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3" r:id="rId18"/>
    <p:sldId id="275" r:id="rId1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开场直接讲问题：动力装备资料不是干净文本，也不是一道普通问答题。</a:t>
            </a:r>
          </a:p>
          <a:p>
            <a:r>
              <a:t>PowerRAG 是项目总名；RAG、GraphRAG、社区摘要和全局综合评估是内部能力模块。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这一页用表格建立汇报节奏：每一行都回答为什么做、做了什么、最后能展示什么。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举联合循环效率更高这个例子。</a:t>
            </a:r>
          </a:p>
          <a:p>
            <a:r>
              <a:t>正确答案要能回到余热利用、蒸汽轮机、能量梯级利用等证据。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承认早期是从页面和入口做起。</a:t>
            </a:r>
          </a:p>
          <a:p>
            <a:r>
              <a:t>关键转折：发现功能堆叠不能证明可信，必须回到数据、检索、评测。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JSON 有结构，PDF 有文字层差异，扫描件必须 OCR。</a:t>
            </a:r>
          </a:p>
          <a:p>
            <a:r>
              <a:t>metadata、page、source 是后面证据引用的基础。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 Tesseract、PaddleOCR、RapidOCR、云 OCR 等路线试错。</a:t>
            </a:r>
          </a:p>
          <a:p>
            <a:r>
              <a:t>强调 OCR 不是边角功能，它决定扫描资料是否真正进入 RAG。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 chunk size、overlap、页码和标题触发。</a:t>
            </a:r>
          </a:p>
          <a:p>
            <a:r>
              <a:t>重点：证据单元质量影响召回，也影响答案可追溯。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向量和平时课本上的二维/三维向量不一样：它通常是几百到上千维的语义坐标，每一维不是人工命名的“温度/压力/功率”，而是模型训练出来的隐含语义特征。</a:t>
            </a:r>
          </a:p>
          <a:p>
            <a:r>
              <a:t>ChromaDB 负责保存 chunk、embedding 和 metadata；BM25/keyword 负责强术语召回；Graph seeds 为后面的实体关系检索做入口。</a:t>
            </a:r>
          </a:p>
          <a:p>
            <a:r>
              <a:t>强调这是为了让证据能被不同类型问题找到，而不是只把资料存进数据库。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 keyword 0.833、hybrid_rrf 0.817、dense_hashing 0.583。</a:t>
            </a:r>
          </a:p>
          <a:p>
            <a:r>
              <a:t>高分点：不盲目相信复杂方法，而是看评测数据。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解释为什么 keyword 反而强：设备名、故障名、部件名、工况术语非常明确，词项重合本身就是很强的信号。</a:t>
            </a:r>
          </a:p>
          <a:p>
            <a:r>
              <a:t>dense 不是没价值，而是当前 embedding / hashing 路线还不适合这些强术语问题；它适合未来处理同义表达和跨句语义。</a:t>
            </a:r>
          </a:p>
          <a:p>
            <a:r>
              <a:t>hybrid 接近但没稳定超过，所以后续不是盲目融合，而是做 query routing 和 reranker。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讲文本块、triples、人工判断、evidence 绑定。</a:t>
            </a:r>
          </a:p>
          <a:p>
            <a:r>
              <a:t>不要说 GraphRAG 已全面超过普通 RAG。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稳住边界：GraphRAG 是增强路线，不是万能替代。</a:t>
            </a:r>
          </a:p>
          <a:p>
            <a:r>
              <a:t>这会显得项目更真实、更可信。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讲页面只是入口，真正价值是模块分层。</a:t>
            </a:r>
          </a:p>
          <a:p>
            <a:r>
              <a:t>每一层都对应真实工程职责。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主动承认失败类型：zero-hit、ranking gap、concept gap。</a:t>
            </a:r>
          </a:p>
          <a:p>
            <a:r>
              <a:t>把失败讲成下一步优化任务。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现场演示控制在一分钟左右。</a:t>
            </a:r>
          </a:p>
          <a:p>
            <a:r>
              <a:t>如果 403，不要慌，直接说这是匿名 API 限流，页面已经做了快照降级。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结尾只收束，不再展开新技术点。</a:t>
            </a:r>
          </a:p>
          <a:p>
            <a:r>
              <a:t>强调初心：让动力装备资料变成可检索、可引用、可评测的可信答案。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image" Target="../media/image13.png"/><Relationship Id="rId12" Type="http://schemas.openxmlformats.org/officeDocument/2006/relationships/notesSlide" Target="../notesSlides/notesSlide15.xml"/><Relationship Id="rId11" Type="http://schemas.openxmlformats.org/officeDocument/2006/relationships/slideLayout" Target="../slideLayouts/slideLayout1.xml"/><Relationship Id="rId10" Type="http://schemas.openxmlformats.org/officeDocument/2006/relationships/tags" Target="../tags/tag9.xml"/><Relationship Id="rId1" Type="http://schemas.openxmlformats.org/officeDocument/2006/relationships/tags" Target="../tags/tag1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18.xml"/><Relationship Id="rId8" Type="http://schemas.openxmlformats.org/officeDocument/2006/relationships/tags" Target="../tags/tag17.xml"/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9" Type="http://schemas.openxmlformats.org/officeDocument/2006/relationships/notesSlide" Target="../notesSlides/notesSlide16.xml"/><Relationship Id="rId18" Type="http://schemas.openxmlformats.org/officeDocument/2006/relationships/slideLayout" Target="../slideLayouts/slideLayout1.xml"/><Relationship Id="rId17" Type="http://schemas.openxmlformats.org/officeDocument/2006/relationships/tags" Target="../tags/tag26.xml"/><Relationship Id="rId16" Type="http://schemas.openxmlformats.org/officeDocument/2006/relationships/tags" Target="../tags/tag25.xml"/><Relationship Id="rId15" Type="http://schemas.openxmlformats.org/officeDocument/2006/relationships/tags" Target="../tags/tag24.xml"/><Relationship Id="rId14" Type="http://schemas.openxmlformats.org/officeDocument/2006/relationships/tags" Target="../tags/tag23.xml"/><Relationship Id="rId13" Type="http://schemas.openxmlformats.org/officeDocument/2006/relationships/tags" Target="../tags/tag22.xml"/><Relationship Id="rId12" Type="http://schemas.openxmlformats.org/officeDocument/2006/relationships/tags" Target="../tags/tag21.xml"/><Relationship Id="rId11" Type="http://schemas.openxmlformats.org/officeDocument/2006/relationships/tags" Target="../tags/tag20.xml"/><Relationship Id="rId10" Type="http://schemas.openxmlformats.org/officeDocument/2006/relationships/tags" Target="../tags/tag19.xml"/><Relationship Id="rId1" Type="http://schemas.openxmlformats.org/officeDocument/2006/relationships/tags" Target="../tags/tag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圆角矩形 1"/>
          <p:cNvSpPr>
            <a:spLocks noGrp="1"/>
          </p:cNvSpPr>
          <p:nvPr/>
        </p:nvSpPr>
        <p:spPr>
          <a:xfrm>
            <a:off x="4548505" y="876300"/>
            <a:ext cx="6762750" cy="4876800"/>
          </a:xfrm>
          <a:prstGeom prst="roundRect">
            <a:avLst>
              <a:gd name="adj" fmla="val 1563"/>
            </a:avLst>
          </a:prstGeom>
          <a:solidFill>
            <a:srgbClr val="FFFFFF"/>
          </a:solidFill>
          <a:ln w="9525">
            <a:solidFill>
              <a:srgbClr val="DBE7F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34255" y="2007673"/>
            <a:ext cx="6191250" cy="2566429"/>
          </a:xfrm>
          <a:prstGeom prst="rect">
            <a:avLst/>
          </a:prstGeom>
        </p:spPr>
      </p:pic>
      <p:sp>
        <p:nvSpPr>
          <p:cNvPr id="3" name="矩形 2"/>
          <p:cNvSpPr>
            <a:spLocks noGrp="1"/>
          </p:cNvSpPr>
          <p:nvPr/>
        </p:nvSpPr>
        <p:spPr>
          <a:xfrm>
            <a:off x="301625" y="260350"/>
            <a:ext cx="4304030" cy="11823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500" b="1">
                <a:solidFill>
                  <a:srgbClr val="111827"/>
                </a:solidFill>
              </a:defRPr>
            </a:pPr>
            <a:r>
              <a:rPr sz="6000" b="1">
                <a:solidFill>
                  <a:srgbClr val="111827"/>
                </a:solidFill>
                <a:latin typeface="汉仪颜楷简" panose="00020600040101010101" charset="-122"/>
                <a:ea typeface="汉仪颜楷简" panose="00020600040101010101" charset="-122"/>
              </a:rPr>
              <a:t>PowerRAG</a:t>
            </a:r>
            <a:endParaRPr sz="6000" b="1">
              <a:solidFill>
                <a:srgbClr val="111827"/>
              </a:solidFill>
              <a:latin typeface="汉仪颜楷简" panose="00020600040101010101" charset="-122"/>
              <a:ea typeface="汉仪颜楷简" panose="00020600040101010101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06400" y="1628775"/>
            <a:ext cx="5334000" cy="13442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1769E0"/>
                </a:solidFill>
              </a:defRPr>
            </a:pPr>
            <a:r>
              <a:rPr sz="2400">
                <a:solidFill>
                  <a:srgbClr val="1769E0"/>
                </a:solidFill>
                <a:latin typeface="方正公文小标宋" panose="02000500000000000000" charset="-122"/>
                <a:ea typeface="方正公文小标宋" panose="02000500000000000000" charset="-122"/>
              </a:rPr>
              <a:t>面向动力装备资料的</a:t>
            </a:r>
            <a:endParaRPr sz="2400">
              <a:solidFill>
                <a:srgbClr val="1769E0"/>
              </a:solidFill>
              <a:latin typeface="方正公文小标宋" panose="02000500000000000000" charset="-122"/>
              <a:ea typeface="方正公文小标宋" panose="02000500000000000000" charset="-122"/>
            </a:endParaRPr>
          </a:p>
          <a:p>
            <a:pPr algn="l">
              <a:defRPr sz="2100" b="1">
                <a:solidFill>
                  <a:srgbClr val="1769E0"/>
                </a:solidFill>
              </a:defRPr>
            </a:pPr>
            <a:r>
              <a:rPr sz="2400">
                <a:solidFill>
                  <a:srgbClr val="1769E0"/>
                </a:solidFill>
                <a:latin typeface="方正公文小标宋" panose="02000500000000000000" charset="-122"/>
                <a:ea typeface="方正公文小标宋" panose="02000500000000000000" charset="-122"/>
              </a:rPr>
              <a:t>可信问答与评测平台</a:t>
            </a:r>
            <a:endParaRPr sz="2400">
              <a:solidFill>
                <a:srgbClr val="1769E0"/>
              </a:solidFill>
              <a:latin typeface="方正公文小标宋" panose="02000500000000000000" charset="-122"/>
              <a:ea typeface="方正公文小标宋" panose="020005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16890" y="3573145"/>
            <a:ext cx="3997325" cy="16878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769E0"/>
                </a:solidFill>
              </a:defRPr>
            </a:pPr>
            <a:r>
              <a:rPr sz="1800" b="0">
                <a:solidFill>
                  <a:srgbClr val="1769E0"/>
                </a:solidFill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RAG 检索问答 </a:t>
            </a:r>
            <a:endParaRPr sz="1800" b="0">
              <a:solidFill>
                <a:srgbClr val="1769E0"/>
              </a:solidFill>
              <a:latin typeface="方正公文小标宋" panose="02000500000000000000" charset="-122"/>
              <a:ea typeface="方正公文小标宋" panose="02000500000000000000" charset="-122"/>
              <a:cs typeface="方正公文小标宋" panose="02000500000000000000" charset="-122"/>
            </a:endParaRPr>
          </a:p>
          <a:p>
            <a:pPr algn="l">
              <a:defRPr sz="1500" b="1">
                <a:solidFill>
                  <a:srgbClr val="1769E0"/>
                </a:solidFill>
              </a:defRPr>
            </a:pPr>
            <a:r>
              <a:rPr sz="1800" b="0">
                <a:solidFill>
                  <a:srgbClr val="1769E0"/>
                </a:solidFill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 GraphRAG 关系推理</a:t>
            </a:r>
            <a:endParaRPr sz="1800" b="0">
              <a:solidFill>
                <a:srgbClr val="1769E0"/>
              </a:solidFill>
              <a:latin typeface="方正公文小标宋" panose="02000500000000000000" charset="-122"/>
              <a:ea typeface="方正公文小标宋" panose="02000500000000000000" charset="-122"/>
              <a:cs typeface="方正公文小标宋" panose="02000500000000000000" charset="-122"/>
            </a:endParaRPr>
          </a:p>
          <a:p>
            <a:pPr algn="l">
              <a:defRPr sz="1500" b="1">
                <a:solidFill>
                  <a:srgbClr val="1769E0"/>
                </a:solidFill>
              </a:defRPr>
            </a:pPr>
            <a:r>
              <a:rPr sz="1800" b="0">
                <a:solidFill>
                  <a:srgbClr val="1769E0"/>
                </a:solidFill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社区摘要综合</a:t>
            </a:r>
            <a:endParaRPr sz="1800" b="0">
              <a:solidFill>
                <a:srgbClr val="1769E0"/>
              </a:solidFill>
              <a:latin typeface="方正公文小标宋" panose="02000500000000000000" charset="-122"/>
              <a:ea typeface="方正公文小标宋" panose="02000500000000000000" charset="-122"/>
              <a:cs typeface="方正公文小标宋" panose="02000500000000000000" charset="-122"/>
            </a:endParaRPr>
          </a:p>
          <a:p>
            <a:pPr algn="l">
              <a:defRPr sz="1500" b="1">
                <a:solidFill>
                  <a:srgbClr val="1769E0"/>
                </a:solidFill>
              </a:defRPr>
            </a:pPr>
            <a:r>
              <a:rPr sz="1800" b="0">
                <a:solidFill>
                  <a:srgbClr val="1769E0"/>
                </a:solidFill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综合</a:t>
            </a:r>
            <a:r>
              <a:rPr lang="zh-CN" sz="1800" b="0">
                <a:solidFill>
                  <a:srgbClr val="1769E0"/>
                </a:solidFill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问题回答</a:t>
            </a:r>
            <a:endParaRPr sz="1800" b="0">
              <a:solidFill>
                <a:srgbClr val="1769E0"/>
              </a:solidFill>
              <a:latin typeface="方正公文小标宋" panose="02000500000000000000" charset="-122"/>
              <a:ea typeface="方正公文小标宋" panose="02000500000000000000" charset="-122"/>
              <a:cs typeface="方正公文小标宋" panose="020005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66750" y="609600"/>
            <a:ext cx="4000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ClrTx/>
              <a:buSzTx/>
              <a:buFontTx/>
              <a:defRPr sz="4500" b="1">
                <a:solidFill>
                  <a:srgbClr val="111827"/>
                </a:solidFill>
              </a:defRPr>
            </a:pPr>
            <a:r>
              <a:rPr sz="4800" b="1">
                <a:solidFill>
                  <a:srgbClr val="111827"/>
                </a:solidFill>
                <a:latin typeface="汉仪颜楷简" panose="00020600040101010101" charset="-122"/>
                <a:ea typeface="汉仪颜楷简" panose="00020600040101010101" charset="-122"/>
              </a:rPr>
              <a:t>汇报主线</a:t>
            </a:r>
            <a:endParaRPr sz="4800" b="1">
              <a:solidFill>
                <a:srgbClr val="111827"/>
              </a:solidFill>
              <a:latin typeface="汉仪颜楷简" panose="00020600040101010101" charset="-122"/>
              <a:ea typeface="汉仪颜楷简" panose="00020600040101010101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704850" y="1276350"/>
            <a:ext cx="933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334155"/>
                </a:solidFill>
              </a:defRPr>
            </a:pPr>
            <a:endParaRPr sz="1800" b="0">
              <a:solidFill>
                <a:srgbClr val="334155"/>
              </a:solidFill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666750" y="1790700"/>
            <a:ext cx="10668000" cy="4229100"/>
          </a:xfrm>
          <a:prstGeom prst="roundRect">
            <a:avLst>
              <a:gd name="adj" fmla="val 1802"/>
            </a:avLst>
          </a:prstGeom>
          <a:solidFill>
            <a:srgbClr val="FFFFFF"/>
          </a:solidFill>
          <a:ln w="9525">
            <a:solidFill>
              <a:srgbClr val="DBE7F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5" name="矩形 4"/>
          <p:cNvSpPr>
            <a:spLocks noGrp="1"/>
          </p:cNvSpPr>
          <p:nvPr/>
        </p:nvSpPr>
        <p:spPr>
          <a:xfrm>
            <a:off x="895350" y="1962150"/>
            <a:ext cx="1352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769E0"/>
                </a:solidFill>
              </a:defRPr>
            </a:pPr>
            <a:r>
              <a:rPr sz="1500" b="1">
                <a:solidFill>
                  <a:srgbClr val="1769E0"/>
                </a:solidFill>
              </a:rPr>
              <a:t>阶段</a:t>
            </a:r>
            <a:endParaRPr sz="1500" b="1">
              <a:solidFill>
                <a:srgbClr val="1769E0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2381250" y="1962150"/>
            <a:ext cx="2724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769E0"/>
                </a:solidFill>
              </a:defRPr>
            </a:pPr>
            <a:r>
              <a:rPr sz="1500" b="1">
                <a:solidFill>
                  <a:srgbClr val="1769E0"/>
                </a:solidFill>
              </a:rPr>
              <a:t>核心问题</a:t>
            </a:r>
            <a:endParaRPr sz="1500" b="1">
              <a:solidFill>
                <a:srgbClr val="1769E0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257800" y="1962150"/>
            <a:ext cx="3238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769E0"/>
                </a:solidFill>
              </a:defRPr>
            </a:pPr>
            <a:r>
              <a:rPr sz="1500" b="1">
                <a:solidFill>
                  <a:srgbClr val="1769E0"/>
                </a:solidFill>
              </a:rPr>
              <a:t>重点功能</a:t>
            </a:r>
            <a:endParaRPr sz="1500" b="1">
              <a:solidFill>
                <a:srgbClr val="1769E0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667750" y="1962150"/>
            <a:ext cx="2324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769E0"/>
                </a:solidFill>
              </a:defRPr>
            </a:pPr>
            <a:r>
              <a:rPr lang="zh-CN" sz="1500" b="1">
                <a:solidFill>
                  <a:srgbClr val="1769E0"/>
                </a:solidFill>
                <a:ea typeface="宋体" panose="02010600030101010101" pitchFamily="2" charset="-122"/>
              </a:rPr>
              <a:t>效果</a:t>
            </a:r>
            <a:endParaRPr lang="zh-CN" sz="1500" b="1">
              <a:solidFill>
                <a:srgbClr val="1769E0"/>
              </a:solidFill>
              <a:ea typeface="宋体" panose="02010600030101010101" pitchFamily="2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76300" y="2324100"/>
            <a:ext cx="10248900" cy="19050"/>
          </a:xfrm>
          <a:prstGeom prst="rect">
            <a:avLst/>
          </a:prstGeom>
          <a:solidFill>
            <a:srgbClr val="DBE7FB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95350" y="2457450"/>
            <a:ext cx="13525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769E0"/>
                </a:solidFill>
              </a:defRPr>
            </a:pPr>
            <a:r>
              <a:rPr sz="1500" b="1">
                <a:solidFill>
                  <a:srgbClr val="1769E0"/>
                </a:solidFill>
              </a:rPr>
              <a:t>资料入口</a:t>
            </a:r>
            <a:endParaRPr sz="1500" b="1">
              <a:solidFill>
                <a:srgbClr val="1769E0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2381250" y="2476500"/>
            <a:ext cx="27241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827"/>
                </a:solidFill>
              </a:defRPr>
            </a:pPr>
            <a:r>
              <a:rPr lang="zh-CN" sz="1425">
                <a:solidFill>
                  <a:srgbClr val="111827"/>
                </a:solidFill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各种文件</a:t>
            </a:r>
            <a:r>
              <a:rPr sz="1425">
                <a:solidFill>
                  <a:srgbClr val="111827"/>
                </a:solidFill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能否统一进入系统？</a:t>
            </a:r>
            <a:endParaRPr sz="1425">
              <a:solidFill>
                <a:srgbClr val="111827"/>
              </a:solidFill>
              <a:latin typeface="方正公文小标宋" panose="02000500000000000000" charset="-122"/>
              <a:ea typeface="方正公文小标宋" panose="02000500000000000000" charset="-122"/>
              <a:cs typeface="方正公文小标宋" panose="020005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5257800" y="2476500"/>
            <a:ext cx="3238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334155"/>
                </a:solidFill>
              </a:defRPr>
            </a:pPr>
            <a:r>
              <a:rPr sz="1425" b="0">
                <a:solidFill>
                  <a:srgbClr val="111827"/>
                </a:solidFill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格式识别、OCR </a:t>
            </a:r>
            <a:r>
              <a:rPr lang="zh-CN" sz="1425" b="0">
                <a:solidFill>
                  <a:srgbClr val="111827"/>
                </a:solidFill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转换</a:t>
            </a:r>
            <a:r>
              <a:rPr sz="1425" b="0">
                <a:solidFill>
                  <a:srgbClr val="111827"/>
                </a:solidFill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、扫描版处理</a:t>
            </a:r>
            <a:endParaRPr sz="1425" b="0">
              <a:solidFill>
                <a:srgbClr val="111827"/>
              </a:solidFill>
              <a:latin typeface="方正公文小标宋" panose="02000500000000000000" charset="-122"/>
              <a:ea typeface="方正公文小标宋" panose="02000500000000000000" charset="-122"/>
              <a:cs typeface="方正公文小标宋" panose="020005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0" y="2476500"/>
            <a:ext cx="23241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异构资料进入同一数据管线</a:t>
            </a:r>
            <a:endParaRPr sz="1425" b="0">
              <a:solidFill>
                <a:srgbClr val="111827"/>
              </a:solidFill>
              <a:latin typeface="方正公文小标宋" panose="02000500000000000000" charset="-122"/>
              <a:ea typeface="方正公文小标宋" panose="02000500000000000000" charset="-122"/>
              <a:cs typeface="方正公文小标宋" panose="020005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76300" y="3048000"/>
            <a:ext cx="10248900" cy="9525"/>
          </a:xfrm>
          <a:prstGeom prst="rect">
            <a:avLst/>
          </a:prstGeom>
          <a:solidFill>
            <a:srgbClr val="EDF2F7"/>
          </a:solidFill>
          <a:ln w="0">
            <a:noFill/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895350" y="3143250"/>
            <a:ext cx="13525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769E0"/>
                </a:solidFill>
              </a:defRPr>
            </a:pPr>
            <a:r>
              <a:rPr sz="1500" b="1">
                <a:solidFill>
                  <a:srgbClr val="1769E0"/>
                </a:solidFill>
              </a:rPr>
              <a:t>证据构建</a:t>
            </a:r>
            <a:endParaRPr sz="1500" b="1">
              <a:solidFill>
                <a:srgbClr val="1769E0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2381250" y="3162300"/>
            <a:ext cx="27241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资料进入系统后，如何变成可引用的证据？</a:t>
            </a:r>
            <a:endParaRPr sz="1425" b="0">
              <a:solidFill>
                <a:srgbClr val="111827"/>
              </a:solidFill>
              <a:latin typeface="方正公文小标宋" panose="02000500000000000000" charset="-122"/>
              <a:ea typeface="方正公文小标宋" panose="02000500000000000000" charset="-122"/>
              <a:cs typeface="方正公文小标宋" panose="020005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5257800" y="3162300"/>
            <a:ext cx="3238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334155"/>
                </a:solidFill>
              </a:defRPr>
            </a:pPr>
            <a:r>
              <a:rPr sz="1425" b="0">
                <a:solidFill>
                  <a:srgbClr val="111827"/>
                </a:solidFill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清洗、分块、标题/页码保留、向量库入库</a:t>
            </a:r>
            <a:endParaRPr sz="1425" b="0">
              <a:solidFill>
                <a:srgbClr val="111827"/>
              </a:solidFill>
              <a:latin typeface="方正公文小标宋" panose="02000500000000000000" charset="-122"/>
              <a:ea typeface="方正公文小标宋" panose="02000500000000000000" charset="-122"/>
              <a:cs typeface="方正公文小标宋" panose="020005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667750" y="3162300"/>
            <a:ext cx="23241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从厚资料变成带来源的证据块</a:t>
            </a:r>
            <a:endParaRPr sz="1425" b="0">
              <a:solidFill>
                <a:srgbClr val="111827"/>
              </a:solidFill>
              <a:latin typeface="方正公文小标宋" panose="02000500000000000000" charset="-122"/>
              <a:ea typeface="方正公文小标宋" panose="02000500000000000000" charset="-122"/>
              <a:cs typeface="方正公文小标宋" panose="020005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76300" y="3733800"/>
            <a:ext cx="10248900" cy="9525"/>
          </a:xfrm>
          <a:prstGeom prst="rect">
            <a:avLst/>
          </a:prstGeom>
          <a:solidFill>
            <a:srgbClr val="EDF2F7"/>
          </a:solidFill>
          <a:ln w="0">
            <a:noFill/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895350" y="3829050"/>
            <a:ext cx="13525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769E0"/>
                </a:solidFill>
              </a:defRPr>
            </a:pPr>
            <a:r>
              <a:rPr sz="1500" b="1">
                <a:solidFill>
                  <a:srgbClr val="1769E0"/>
                </a:solidFill>
              </a:rPr>
              <a:t>检索问答</a:t>
            </a:r>
            <a:endParaRPr sz="1500" b="1">
              <a:solidFill>
                <a:srgbClr val="1769E0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2381250" y="3848100"/>
            <a:ext cx="27241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用户提问时，证据到底怎么被找出来？</a:t>
            </a:r>
            <a:endParaRPr sz="1425" b="0">
              <a:solidFill>
                <a:srgbClr val="111827"/>
              </a:solidFill>
              <a:latin typeface="方正公文小标宋" panose="02000500000000000000" charset="-122"/>
              <a:ea typeface="方正公文小标宋" panose="02000500000000000000" charset="-122"/>
              <a:cs typeface="方正公文小标宋" panose="020005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5257800" y="3848100"/>
            <a:ext cx="3238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334155"/>
                </a:solidFill>
              </a:defRPr>
            </a:pPr>
            <a:r>
              <a:rPr>
                <a:solidFill>
                  <a:srgbClr val="111827"/>
                </a:solidFill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  <a:sym typeface="+mn-ea"/>
              </a:rPr>
              <a:t>query routing</a:t>
            </a:r>
            <a:r>
              <a:rPr lang="zh-CN">
                <a:solidFill>
                  <a:srgbClr val="111827"/>
                </a:solidFill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  <a:sym typeface="+mn-ea"/>
              </a:rPr>
              <a:t>、</a:t>
            </a:r>
            <a:r>
              <a:rPr sz="1425" b="0">
                <a:solidFill>
                  <a:srgbClr val="111827"/>
                </a:solidFill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keyword</a:t>
            </a:r>
            <a:r>
              <a:rPr lang="zh-CN" sz="1425" b="0">
                <a:solidFill>
                  <a:srgbClr val="111827"/>
                </a:solidFill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、</a:t>
            </a:r>
            <a:r>
              <a:rPr sz="1425" b="0">
                <a:solidFill>
                  <a:srgbClr val="111827"/>
                </a:solidFill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BM25</a:t>
            </a:r>
            <a:r>
              <a:rPr lang="en-US" sz="1425" b="0">
                <a:solidFill>
                  <a:srgbClr val="111827"/>
                </a:solidFill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\</a:t>
            </a:r>
            <a:r>
              <a:rPr sz="1425" b="0">
                <a:solidFill>
                  <a:srgbClr val="111827"/>
                </a:solidFill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dense、hybrid RRF、</a:t>
            </a:r>
            <a:endParaRPr sz="1425" b="0">
              <a:solidFill>
                <a:srgbClr val="111827"/>
              </a:solidFill>
              <a:latin typeface="方正公文小标宋" panose="02000500000000000000" charset="-122"/>
              <a:ea typeface="方正公文小标宋" panose="02000500000000000000" charset="-122"/>
              <a:cs typeface="方正公文小标宋" panose="020005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667750" y="3848100"/>
            <a:ext cx="23241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ClrTx/>
              <a:buSzTx/>
              <a:buFontTx/>
              <a:defRPr sz="1425" b="0">
                <a:solidFill>
                  <a:srgbClr val="111827"/>
                </a:solidFill>
              </a:defRPr>
            </a:pPr>
            <a:r>
              <a:rPr sz="1425">
                <a:solidFill>
                  <a:srgbClr val="111827"/>
                </a:solidFill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用</a:t>
            </a:r>
            <a:r>
              <a:rPr sz="1425" b="0">
                <a:solidFill>
                  <a:srgbClr val="111827"/>
                </a:solidFill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同一</a:t>
            </a:r>
            <a:r>
              <a:rPr sz="1425">
                <a:solidFill>
                  <a:srgbClr val="111827"/>
                </a:solidFill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批问题比较 baseline</a:t>
            </a:r>
            <a:endParaRPr sz="1425">
              <a:solidFill>
                <a:srgbClr val="111827"/>
              </a:solidFill>
              <a:latin typeface="方正公文小标宋" panose="02000500000000000000" charset="-122"/>
              <a:ea typeface="方正公文小标宋" panose="02000500000000000000" charset="-122"/>
              <a:cs typeface="方正公文小标宋" panose="02000500000000000000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876300" y="4419600"/>
            <a:ext cx="10248900" cy="9525"/>
          </a:xfrm>
          <a:prstGeom prst="rect">
            <a:avLst/>
          </a:prstGeom>
          <a:solidFill>
            <a:srgbClr val="EDF2F7"/>
          </a:solidFill>
          <a:ln w="0">
            <a:noFill/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895350" y="4514850"/>
            <a:ext cx="13525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769E0"/>
                </a:solidFill>
              </a:defRPr>
            </a:pPr>
            <a:r>
              <a:rPr sz="1500" b="1">
                <a:solidFill>
                  <a:srgbClr val="1769E0"/>
                </a:solidFill>
              </a:rPr>
              <a:t>图谱综合</a:t>
            </a:r>
            <a:endParaRPr sz="1500" b="1">
              <a:solidFill>
                <a:srgbClr val="1769E0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2381250" y="4533900"/>
            <a:ext cx="27241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单段证据不够时，如何做关系追踪和综合？</a:t>
            </a:r>
            <a:endParaRPr sz="1425" b="0">
              <a:solidFill>
                <a:srgbClr val="111827"/>
              </a:solidFill>
              <a:latin typeface="方正公文小标宋" panose="02000500000000000000" charset="-122"/>
              <a:ea typeface="方正公文小标宋" panose="02000500000000000000" charset="-122"/>
              <a:cs typeface="方正公文小标宋" panose="02000500000000000000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5257800" y="4533900"/>
            <a:ext cx="3238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334155"/>
                </a:solidFill>
              </a:defRPr>
            </a:pPr>
            <a:r>
              <a:rPr sz="1425" b="0">
                <a:solidFill>
                  <a:srgbClr val="111827"/>
                </a:solidFill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实体关系抽取</a:t>
            </a:r>
            <a:r>
              <a:rPr lang="zh-CN" sz="1425" b="0">
                <a:solidFill>
                  <a:srgbClr val="111827"/>
                </a:solidFill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（三元组）</a:t>
            </a:r>
            <a:r>
              <a:rPr sz="1425" b="0">
                <a:solidFill>
                  <a:srgbClr val="111827"/>
                </a:solidFill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、Graph、社区摘要</a:t>
            </a:r>
            <a:endParaRPr sz="1425" b="0">
              <a:solidFill>
                <a:srgbClr val="111827"/>
              </a:solidFill>
              <a:latin typeface="方正公文小标宋" panose="02000500000000000000" charset="-122"/>
              <a:ea typeface="方正公文小标宋" panose="02000500000000000000" charset="-122"/>
              <a:cs typeface="方正公文小标宋" panose="02000500000000000000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8667750" y="4533900"/>
            <a:ext cx="23241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ClrTx/>
              <a:buSzTx/>
              <a:buFontTx/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回答跨</a:t>
            </a:r>
            <a:r>
              <a:rPr sz="1425">
                <a:solidFill>
                  <a:srgbClr val="111827"/>
                </a:solidFill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文档关系和全局问题</a:t>
            </a:r>
            <a:endParaRPr sz="1425">
              <a:solidFill>
                <a:srgbClr val="111827"/>
              </a:solidFill>
              <a:latin typeface="方正公文小标宋" panose="02000500000000000000" charset="-122"/>
              <a:ea typeface="方正公文小标宋" panose="02000500000000000000" charset="-122"/>
              <a:cs typeface="方正公文小标宋" panose="02000500000000000000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876300" y="5105400"/>
            <a:ext cx="10248900" cy="9525"/>
          </a:xfrm>
          <a:prstGeom prst="rect">
            <a:avLst/>
          </a:prstGeom>
          <a:solidFill>
            <a:srgbClr val="EDF2F7"/>
          </a:solidFill>
          <a:ln w="0">
            <a:noFill/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895350" y="5200650"/>
            <a:ext cx="13525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769E0"/>
                </a:solidFill>
              </a:defRPr>
            </a:pPr>
            <a:r>
              <a:rPr sz="1500" b="1">
                <a:solidFill>
                  <a:srgbClr val="1769E0"/>
                </a:solidFill>
              </a:rPr>
              <a:t>评测闭环</a:t>
            </a:r>
            <a:endParaRPr sz="1500" b="1">
              <a:solidFill>
                <a:srgbClr val="1769E0"/>
              </a:solidFill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2381250" y="5219700"/>
            <a:ext cx="27241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怎么证明系统不是只会演示？</a:t>
            </a:r>
            <a:endParaRPr sz="1425" b="0">
              <a:solidFill>
                <a:srgbClr val="111827"/>
              </a:solidFill>
              <a:latin typeface="方正公文小标宋" panose="02000500000000000000" charset="-122"/>
              <a:ea typeface="方正公文小标宋" panose="02000500000000000000" charset="-122"/>
              <a:cs typeface="方正公文小标宋" panose="02000500000000000000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5257800" y="5219700"/>
            <a:ext cx="3238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334155"/>
                </a:solidFill>
              </a:defRPr>
            </a:pPr>
            <a:r>
              <a:rPr sz="1425" b="0">
                <a:solidFill>
                  <a:srgbClr val="111827"/>
                </a:solidFill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评测</a:t>
            </a:r>
            <a:r>
              <a:rPr lang="zh-CN" sz="1425" b="0">
                <a:solidFill>
                  <a:srgbClr val="111827"/>
                </a:solidFill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集</a:t>
            </a:r>
            <a:r>
              <a:rPr sz="1425" b="0">
                <a:solidFill>
                  <a:srgbClr val="111827"/>
                </a:solidFill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、失败归因</a:t>
            </a:r>
            <a:r>
              <a:rPr lang="zh-CN" sz="1425" b="0">
                <a:solidFill>
                  <a:srgbClr val="111827"/>
                </a:solidFill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优化系统化</a:t>
            </a:r>
            <a:endParaRPr lang="zh-CN" sz="1425" b="0">
              <a:solidFill>
                <a:srgbClr val="111827"/>
              </a:solidFill>
              <a:latin typeface="方正公文小标宋" panose="02000500000000000000" charset="-122"/>
              <a:ea typeface="方正公文小标宋" panose="02000500000000000000" charset="-122"/>
              <a:cs typeface="方正公文小标宋" panose="02000500000000000000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8667750" y="5219700"/>
            <a:ext cx="23241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ClrTx/>
              <a:buSzTx/>
              <a:buFontTx/>
              <a:defRPr sz="1425" b="0">
                <a:solidFill>
                  <a:srgbClr val="111827"/>
                </a:solidFill>
              </a:defRPr>
            </a:pPr>
            <a:r>
              <a:rPr sz="1425">
                <a:solidFill>
                  <a:srgbClr val="111827"/>
                </a:solidFill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从能打开变成</a:t>
            </a:r>
            <a:r>
              <a:rPr sz="1425" b="0">
                <a:solidFill>
                  <a:srgbClr val="111827"/>
                </a:solidFill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能</a:t>
            </a:r>
            <a:r>
              <a:rPr sz="1425">
                <a:solidFill>
                  <a:srgbClr val="111827"/>
                </a:solidFill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评分、能优化</a:t>
            </a:r>
            <a:endParaRPr sz="1425">
              <a:solidFill>
                <a:srgbClr val="111827"/>
              </a:solidFill>
              <a:latin typeface="方正公文小标宋" panose="02000500000000000000" charset="-122"/>
              <a:ea typeface="方正公文小标宋" panose="02000500000000000000" charset="-122"/>
              <a:cs typeface="方正公文小标宋" panose="020005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32460" y="44450"/>
            <a:ext cx="8763000" cy="1228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ClrTx/>
              <a:buSzTx/>
              <a:buFontTx/>
              <a:defRPr sz="4500" b="1">
                <a:solidFill>
                  <a:srgbClr val="111827"/>
                </a:solidFill>
              </a:defRPr>
            </a:pPr>
            <a:r>
              <a:rPr sz="4800" b="1">
                <a:solidFill>
                  <a:srgbClr val="111827"/>
                </a:solidFill>
                <a:latin typeface="汉仪颜楷简" panose="00020600040101010101" charset="-122"/>
                <a:ea typeface="汉仪颜楷简" panose="00020600040101010101" charset="-122"/>
              </a:rPr>
              <a:t>初心是把资料变成可信答案</a:t>
            </a:r>
            <a:endParaRPr sz="4800" b="1">
              <a:solidFill>
                <a:srgbClr val="111827"/>
              </a:solidFill>
              <a:latin typeface="汉仪颜楷简" panose="00020600040101010101" charset="-122"/>
              <a:ea typeface="汉仪颜楷简" panose="00020600040101010101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704850" y="876300"/>
            <a:ext cx="933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334155"/>
                </a:solidFill>
              </a:defRPr>
            </a:pPr>
            <a:endParaRPr sz="1500" b="0">
              <a:solidFill>
                <a:srgbClr val="334155"/>
              </a:solidFill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438150" y="1257300"/>
            <a:ext cx="11315700" cy="4686300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C7DCF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5" name="矩形 4"/>
          <p:cNvSpPr>
            <a:spLocks noGrp="1"/>
          </p:cNvSpPr>
          <p:nvPr/>
        </p:nvSpPr>
        <p:spPr>
          <a:xfrm>
            <a:off x="438150" y="1257300"/>
            <a:ext cx="11315700" cy="9525"/>
          </a:xfrm>
          <a:prstGeom prst="rect">
            <a:avLst/>
          </a:prstGeom>
          <a:solidFill>
            <a:srgbClr val="0F9F6E"/>
          </a:solidFill>
          <a:ln w="0">
            <a:noFill/>
            <a:prstDash val="solid"/>
          </a:ln>
        </p:spPr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2427" y="1390650"/>
            <a:ext cx="10927146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66750" y="116840"/>
            <a:ext cx="8763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ClrTx/>
              <a:buSzTx/>
              <a:buFontTx/>
              <a:defRPr sz="4500" b="1">
                <a:solidFill>
                  <a:srgbClr val="111827"/>
                </a:solidFill>
              </a:defRPr>
            </a:pPr>
            <a:r>
              <a:rPr sz="4800" b="1">
                <a:solidFill>
                  <a:srgbClr val="111827"/>
                </a:solidFill>
                <a:latin typeface="汉仪颜楷简" panose="00020600040101010101" charset="-122"/>
                <a:ea typeface="汉仪颜楷简" panose="00020600040101010101" charset="-122"/>
              </a:rPr>
              <a:t>第一阶段先让工作台跑起来</a:t>
            </a:r>
            <a:endParaRPr sz="4800" b="1">
              <a:solidFill>
                <a:srgbClr val="111827"/>
              </a:solidFill>
              <a:latin typeface="汉仪颜楷简" panose="00020600040101010101" charset="-122"/>
              <a:ea typeface="汉仪颜楷简" panose="00020600040101010101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704850" y="876300"/>
            <a:ext cx="933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334155"/>
                </a:solidFill>
              </a:defRPr>
            </a:pPr>
            <a:endParaRPr sz="1500" b="0">
              <a:solidFill>
                <a:srgbClr val="334155"/>
              </a:solidFill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438150" y="1257300"/>
            <a:ext cx="11315700" cy="4686300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C7DCF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5" name="矩形 4"/>
          <p:cNvSpPr>
            <a:spLocks noGrp="1"/>
          </p:cNvSpPr>
          <p:nvPr/>
        </p:nvSpPr>
        <p:spPr>
          <a:xfrm>
            <a:off x="438150" y="1257300"/>
            <a:ext cx="11315700" cy="9525"/>
          </a:xfrm>
          <a:prstGeom prst="rect">
            <a:avLst/>
          </a:prstGeom>
          <a:solidFill>
            <a:srgbClr val="F5B400"/>
          </a:solidFill>
          <a:ln w="0">
            <a:noFill/>
            <a:prstDash val="solid"/>
          </a:ln>
        </p:spPr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6862" y="1390650"/>
            <a:ext cx="10358277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28650" y="188595"/>
            <a:ext cx="8763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ClrTx/>
              <a:buSzTx/>
              <a:buFontTx/>
              <a:defRPr sz="4500" b="1">
                <a:solidFill>
                  <a:srgbClr val="111827"/>
                </a:solidFill>
              </a:defRPr>
            </a:pPr>
            <a:r>
              <a:rPr sz="4800" b="1">
                <a:solidFill>
                  <a:srgbClr val="111827"/>
                </a:solidFill>
                <a:latin typeface="汉仪颜楷简" panose="00020600040101010101" charset="-122"/>
                <a:ea typeface="汉仪颜楷简" panose="00020600040101010101" charset="-122"/>
              </a:rPr>
              <a:t>不同资料需要走不同通道</a:t>
            </a:r>
            <a:endParaRPr sz="4800" b="1">
              <a:solidFill>
                <a:srgbClr val="111827"/>
              </a:solidFill>
              <a:latin typeface="汉仪颜楷简" panose="00020600040101010101" charset="-122"/>
              <a:ea typeface="汉仪颜楷简" panose="00020600040101010101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704850" y="876300"/>
            <a:ext cx="933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334155"/>
                </a:solidFill>
              </a:defRPr>
            </a:pPr>
            <a:endParaRPr sz="1500" b="0">
              <a:solidFill>
                <a:srgbClr val="334155"/>
              </a:solidFill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438150" y="1257300"/>
            <a:ext cx="11315700" cy="4686300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C7DCF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5" name="矩形 4"/>
          <p:cNvSpPr>
            <a:spLocks noGrp="1"/>
          </p:cNvSpPr>
          <p:nvPr/>
        </p:nvSpPr>
        <p:spPr>
          <a:xfrm>
            <a:off x="438150" y="1257300"/>
            <a:ext cx="11315700" cy="9525"/>
          </a:xfrm>
          <a:prstGeom prst="rect">
            <a:avLst/>
          </a:prstGeom>
          <a:solidFill>
            <a:srgbClr val="1769E0"/>
          </a:solidFill>
          <a:ln w="0">
            <a:noFill/>
            <a:prstDash val="solid"/>
          </a:ln>
        </p:spPr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650" y="1393666"/>
            <a:ext cx="10934700" cy="4337368"/>
          </a:xfrm>
          <a:prstGeom prst="rect">
            <a:avLst/>
          </a:prstGeom>
        </p:spPr>
      </p:pic>
      <p:sp>
        <p:nvSpPr>
          <p:cNvPr id="6" name="矩形 5"/>
          <p:cNvSpPr>
            <a:spLocks noGrp="1"/>
          </p:cNvSpPr>
          <p:nvPr/>
        </p:nvSpPr>
        <p:spPr>
          <a:xfrm>
            <a:off x="819150" y="6038850"/>
            <a:ext cx="10553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ClrTx/>
              <a:buSzTx/>
              <a:buFontTx/>
              <a:defRPr sz="1500" b="0">
                <a:solidFill>
                  <a:srgbClr val="334155"/>
                </a:solidFill>
              </a:defRPr>
            </a:pPr>
            <a:r>
              <a:rPr sz="1425" b="0">
                <a:solidFill>
                  <a:srgbClr val="111827"/>
                </a:solidFill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动力装备知识库：燃气轮机教材、维修报告、扫描页和 JSON 标注要分流处理。</a:t>
            </a:r>
            <a:endParaRPr sz="1425" b="0">
              <a:solidFill>
                <a:srgbClr val="111827"/>
              </a:solidFill>
              <a:latin typeface="方正公文小标宋" panose="02000500000000000000" charset="-122"/>
              <a:ea typeface="方正公文小标宋" panose="02000500000000000000" charset="-122"/>
              <a:cs typeface="方正公文小标宋" panose="020005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66750" y="116840"/>
            <a:ext cx="8763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ClrTx/>
              <a:buSzTx/>
              <a:buFontTx/>
              <a:defRPr sz="4500" b="1">
                <a:solidFill>
                  <a:srgbClr val="111827"/>
                </a:solidFill>
              </a:defRPr>
            </a:pPr>
            <a:r>
              <a:rPr sz="4800" b="1">
                <a:solidFill>
                  <a:srgbClr val="111827"/>
                </a:solidFill>
                <a:latin typeface="汉仪颜楷简" panose="00020600040101010101" charset="-122"/>
                <a:ea typeface="汉仪颜楷简" panose="00020600040101010101" charset="-122"/>
              </a:rPr>
              <a:t>真实资料没有那么干净</a:t>
            </a:r>
            <a:endParaRPr sz="4800" b="1">
              <a:solidFill>
                <a:srgbClr val="111827"/>
              </a:solidFill>
              <a:latin typeface="汉仪颜楷简" panose="00020600040101010101" charset="-122"/>
              <a:ea typeface="汉仪颜楷简" panose="00020600040101010101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704850" y="876300"/>
            <a:ext cx="933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中文扫描件质量决定了后面检索和答案的上限。</a:t>
            </a:r>
            <a:endParaRPr sz="1500" b="0">
              <a:solidFill>
                <a:srgbClr val="334155"/>
              </a:solidFill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438150" y="1257300"/>
            <a:ext cx="11315700" cy="4686300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C7DCF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5" name="矩形 4"/>
          <p:cNvSpPr>
            <a:spLocks noGrp="1"/>
          </p:cNvSpPr>
          <p:nvPr/>
        </p:nvSpPr>
        <p:spPr>
          <a:xfrm>
            <a:off x="438150" y="1257300"/>
            <a:ext cx="11315700" cy="9525"/>
          </a:xfrm>
          <a:prstGeom prst="rect">
            <a:avLst/>
          </a:prstGeom>
          <a:solidFill>
            <a:srgbClr val="E65353"/>
          </a:solidFill>
          <a:ln w="0">
            <a:noFill/>
            <a:prstDash val="solid"/>
          </a:ln>
        </p:spPr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8500" y="1390650"/>
            <a:ext cx="8815000" cy="4343400"/>
          </a:xfrm>
          <a:prstGeom prst="rect">
            <a:avLst/>
          </a:prstGeom>
        </p:spPr>
      </p:pic>
      <p:sp>
        <p:nvSpPr>
          <p:cNvPr id="6" name="矩形 5"/>
          <p:cNvSpPr>
            <a:spLocks noGrp="1"/>
          </p:cNvSpPr>
          <p:nvPr/>
        </p:nvSpPr>
        <p:spPr>
          <a:xfrm>
            <a:off x="819150" y="6038850"/>
            <a:ext cx="10553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0">
                <a:solidFill>
                  <a:srgbClr val="334155"/>
                </a:solidFill>
              </a:defRPr>
            </a:pPr>
            <a:r>
              <a:rPr sz="1425" b="0">
                <a:solidFill>
                  <a:srgbClr val="111827"/>
                </a:solidFill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OCR 结果不是临时文本，后续检索、图谱三元组和评测批注都要回到页码与风险标注。</a:t>
            </a:r>
            <a:endParaRPr sz="1425" b="0">
              <a:solidFill>
                <a:srgbClr val="111827"/>
              </a:solidFill>
              <a:latin typeface="方正公文小标宋" panose="02000500000000000000" charset="-122"/>
              <a:ea typeface="方正公文小标宋" panose="02000500000000000000" charset="-122"/>
              <a:cs typeface="方正公文小标宋" panose="020005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23570" y="116840"/>
            <a:ext cx="8763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ClrTx/>
              <a:buSzTx/>
              <a:buFontTx/>
              <a:defRPr sz="4500" b="1">
                <a:solidFill>
                  <a:srgbClr val="111827"/>
                </a:solidFill>
              </a:defRPr>
            </a:pPr>
            <a:r>
              <a:rPr sz="4800" b="1">
                <a:solidFill>
                  <a:srgbClr val="111827"/>
                </a:solidFill>
                <a:latin typeface="汉仪颜楷简" panose="00020600040101010101" charset="-122"/>
                <a:ea typeface="汉仪颜楷简" panose="00020600040101010101" charset="-122"/>
              </a:rPr>
              <a:t>把厚资料切成可检索证据</a:t>
            </a:r>
            <a:endParaRPr sz="4800" b="1">
              <a:solidFill>
                <a:srgbClr val="111827"/>
              </a:solidFill>
              <a:latin typeface="汉仪颜楷简" panose="00020600040101010101" charset="-122"/>
              <a:ea typeface="汉仪颜楷简" panose="00020600040101010101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704850" y="876300"/>
            <a:ext cx="933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Chunk 不是随便切字数，要保留标题、页码、来源和上下文。</a:t>
            </a:r>
            <a:endParaRPr sz="1500" b="0">
              <a:solidFill>
                <a:srgbClr val="334155"/>
              </a:solidFill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438150" y="1257300"/>
            <a:ext cx="11315700" cy="4686300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C7DCF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5" name="矩形 4"/>
          <p:cNvSpPr>
            <a:spLocks noGrp="1"/>
          </p:cNvSpPr>
          <p:nvPr/>
        </p:nvSpPr>
        <p:spPr>
          <a:xfrm>
            <a:off x="438150" y="1257300"/>
            <a:ext cx="11315700" cy="9525"/>
          </a:xfrm>
          <a:prstGeom prst="rect">
            <a:avLst/>
          </a:prstGeom>
          <a:solidFill>
            <a:srgbClr val="0F9F6E"/>
          </a:solidFill>
          <a:ln w="0">
            <a:noFill/>
            <a:prstDash val="solid"/>
          </a:ln>
        </p:spPr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2727" y="1390650"/>
            <a:ext cx="7986547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704850" y="86995"/>
            <a:ext cx="10336530" cy="78930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ClrTx/>
              <a:buSzTx/>
              <a:buFontTx/>
              <a:defRPr sz="4500" b="1">
                <a:solidFill>
                  <a:srgbClr val="111827"/>
                </a:solidFill>
              </a:defRPr>
            </a:pPr>
            <a:r>
              <a:rPr sz="4800" b="1">
                <a:solidFill>
                  <a:srgbClr val="111827"/>
                </a:solidFill>
                <a:latin typeface="汉仪颜楷简" panose="00020600040101010101" charset="-122"/>
                <a:ea typeface="汉仪颜楷简" panose="00020600040101010101" charset="-122"/>
              </a:rPr>
              <a:t>证据进入向量、关键词和图谱空间</a:t>
            </a:r>
            <a:endParaRPr sz="4800" b="1">
              <a:solidFill>
                <a:srgbClr val="111827"/>
              </a:solidFill>
              <a:latin typeface="汉仪颜楷简" panose="00020600040101010101" charset="-122"/>
              <a:ea typeface="汉仪颜楷简" panose="00020600040101010101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704850" y="876300"/>
            <a:ext cx="933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向量不是二维箭头，而是 embedding 给 chunk 的高维语义坐标；BM25 保留精确术语，Chroma 管理召回。</a:t>
            </a:r>
            <a:endParaRPr sz="1500" b="0">
              <a:solidFill>
                <a:srgbClr val="334155"/>
              </a:solidFill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438150" y="1257300"/>
            <a:ext cx="11315700" cy="4686300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C7DCF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5" name="矩形 4"/>
          <p:cNvSpPr>
            <a:spLocks noGrp="1"/>
          </p:cNvSpPr>
          <p:nvPr/>
        </p:nvSpPr>
        <p:spPr>
          <a:xfrm>
            <a:off x="438150" y="1257300"/>
            <a:ext cx="11315700" cy="9525"/>
          </a:xfrm>
          <a:prstGeom prst="rect">
            <a:avLst/>
          </a:prstGeom>
          <a:solidFill>
            <a:srgbClr val="1769E0"/>
          </a:solidFill>
          <a:ln w="0">
            <a:noFill/>
            <a:prstDash val="solid"/>
          </a:ln>
        </p:spPr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1526" y="1390650"/>
            <a:ext cx="7868947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66750" y="116840"/>
            <a:ext cx="8763000" cy="9042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ClrTx/>
              <a:buSzTx/>
              <a:buFontTx/>
              <a:defRPr sz="4500" b="1">
                <a:solidFill>
                  <a:srgbClr val="111827"/>
                </a:solidFill>
              </a:defRPr>
            </a:pPr>
            <a:r>
              <a:rPr sz="4800" b="1">
                <a:solidFill>
                  <a:srgbClr val="111827"/>
                </a:solidFill>
                <a:latin typeface="汉仪颜楷简" panose="00020600040101010101" charset="-122"/>
                <a:ea typeface="汉仪颜楷简" panose="00020600040101010101" charset="-122"/>
              </a:rPr>
              <a:t>检索不是越复杂越好</a:t>
            </a:r>
            <a:endParaRPr sz="4800" b="1">
              <a:solidFill>
                <a:srgbClr val="111827"/>
              </a:solidFill>
              <a:latin typeface="汉仪颜楷简" panose="00020600040101010101" charset="-122"/>
              <a:ea typeface="汉仪颜楷简" panose="00020600040101010101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704850" y="876300"/>
            <a:ext cx="933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同一批问题比较 keyword / dense / hybrid，比主观演示更可靠。</a:t>
            </a:r>
            <a:endParaRPr sz="1500" b="0">
              <a:solidFill>
                <a:srgbClr val="334155"/>
              </a:solidFill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438150" y="1257300"/>
            <a:ext cx="11315700" cy="4686300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C7DCF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5" name="矩形 4"/>
          <p:cNvSpPr>
            <a:spLocks noGrp="1"/>
          </p:cNvSpPr>
          <p:nvPr/>
        </p:nvSpPr>
        <p:spPr>
          <a:xfrm>
            <a:off x="438150" y="1257300"/>
            <a:ext cx="11315700" cy="9525"/>
          </a:xfrm>
          <a:prstGeom prst="rect">
            <a:avLst/>
          </a:prstGeom>
          <a:solidFill>
            <a:srgbClr val="F5B400"/>
          </a:solidFill>
          <a:ln w="0">
            <a:noFill/>
            <a:prstDash val="solid"/>
          </a:ln>
        </p:spPr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6888" y="1390650"/>
            <a:ext cx="8018225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66750" y="116205"/>
            <a:ext cx="9144000" cy="80835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ClrTx/>
              <a:buSzTx/>
              <a:buFontTx/>
              <a:defRPr sz="4500" b="1">
                <a:solidFill>
                  <a:srgbClr val="111827"/>
                </a:solidFill>
              </a:defRPr>
            </a:pPr>
            <a:r>
              <a:rPr sz="4800" b="1">
                <a:solidFill>
                  <a:srgbClr val="111827"/>
                </a:solidFill>
                <a:latin typeface="汉仪颜楷简" panose="00020600040101010101" charset="-122"/>
                <a:ea typeface="汉仪颜楷简" panose="00020600040101010101" charset="-122"/>
              </a:rPr>
              <a:t>三种召回不是排队冲线</a:t>
            </a:r>
            <a:endParaRPr sz="4800" b="1">
              <a:solidFill>
                <a:srgbClr val="111827"/>
              </a:solidFill>
              <a:latin typeface="汉仪颜楷简" panose="00020600040101010101" charset="-122"/>
              <a:ea typeface="汉仪颜楷简" panose="00020600040101010101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704850" y="914400"/>
            <a:ext cx="971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这页替换掉重复图，专门讲为什么 keyword 高、dense 低、hybrid 接近，以及下一步怎么改。</a:t>
            </a:r>
            <a:endParaRPr sz="1500" b="0">
              <a:solidFill>
                <a:srgbClr val="334155"/>
              </a:solidFill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666750" y="1409700"/>
            <a:ext cx="10572750" cy="4210050"/>
          </a:xfrm>
          <a:prstGeom prst="roundRect">
            <a:avLst>
              <a:gd name="adj" fmla="val 1810"/>
            </a:avLst>
          </a:prstGeom>
          <a:solidFill>
            <a:srgbClr val="FFFFFF"/>
          </a:solidFill>
          <a:ln w="9525">
            <a:solidFill>
              <a:srgbClr val="DBE7F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5" name="矩形 4"/>
          <p:cNvSpPr>
            <a:spLocks noGrp="1"/>
          </p:cNvSpPr>
          <p:nvPr/>
        </p:nvSpPr>
        <p:spPr>
          <a:xfrm>
            <a:off x="838200" y="1619250"/>
            <a:ext cx="1476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769E0"/>
                </a:solidFill>
              </a:defRPr>
            </a:pPr>
            <a:r>
              <a:rPr sz="1500" b="1">
                <a:solidFill>
                  <a:srgbClr val="1769E0"/>
                </a:solidFill>
              </a:rPr>
              <a:t>方法</a:t>
            </a:r>
            <a:endParaRPr sz="1500" b="1">
              <a:solidFill>
                <a:srgbClr val="1769E0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2381250" y="161925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769E0"/>
                </a:solidFill>
              </a:defRPr>
            </a:pPr>
            <a:r>
              <a:rPr sz="1500" b="1">
                <a:solidFill>
                  <a:srgbClr val="1769E0"/>
                </a:solidFill>
              </a:rPr>
              <a:t>来源</a:t>
            </a:r>
            <a:endParaRPr sz="1500" b="1">
              <a:solidFill>
                <a:srgbClr val="1769E0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333875" y="1619250"/>
            <a:ext cx="2571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769E0"/>
                </a:solidFill>
              </a:defRPr>
            </a:pPr>
            <a:r>
              <a:rPr sz="1500" b="1">
                <a:solidFill>
                  <a:srgbClr val="1769E0"/>
                </a:solidFill>
              </a:rPr>
              <a:t>适合的问题</a:t>
            </a:r>
            <a:endParaRPr sz="1500" b="1">
              <a:solidFill>
                <a:srgbClr val="1769E0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048500" y="1619250"/>
            <a:ext cx="1524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769E0"/>
                </a:solidFill>
              </a:defRPr>
            </a:pPr>
            <a:r>
              <a:rPr sz="1500" b="1">
                <a:solidFill>
                  <a:srgbClr val="1769E0"/>
                </a:solidFill>
              </a:rPr>
              <a:t>这轮结果</a:t>
            </a:r>
            <a:endParaRPr sz="1500" b="1">
              <a:solidFill>
                <a:srgbClr val="1769E0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715375" y="1619250"/>
            <a:ext cx="238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769E0"/>
                </a:solidFill>
              </a:defRPr>
            </a:pPr>
            <a:r>
              <a:rPr sz="1500" b="1">
                <a:solidFill>
                  <a:srgbClr val="1769E0"/>
                </a:solidFill>
              </a:rPr>
              <a:t>修正动作</a:t>
            </a:r>
            <a:endParaRPr sz="1500" b="1">
              <a:solidFill>
                <a:srgbClr val="1769E0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38200" y="2190750"/>
            <a:ext cx="14763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Keyword / BM25</a:t>
            </a:r>
            <a:endParaRPr sz="1650" b="1">
              <a:solidFill>
                <a:srgbClr val="111827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2381250" y="2190750"/>
            <a:ext cx="1809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词项匹配</a:t>
            </a:r>
            <a:endParaRPr sz="1425" b="0">
              <a:solidFill>
                <a:srgbClr val="111827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333875" y="2190750"/>
            <a:ext cx="2571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设备型号、故障名、强术语明确</a:t>
            </a:r>
            <a:endParaRPr sz="1425" b="0">
              <a:solidFill>
                <a:srgbClr val="111827"/>
              </a:solidFill>
              <a:latin typeface="方正公文小标宋" panose="02000500000000000000" charset="-122"/>
              <a:ea typeface="方正公文小标宋" panose="02000500000000000000" charset="-122"/>
              <a:cs typeface="方正公文小标宋" panose="020005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048500" y="2190750"/>
            <a:ext cx="1524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F5B400"/>
                </a:solidFill>
              </a:defRPr>
            </a:pPr>
            <a:r>
              <a:rPr sz="1650" b="1">
                <a:solidFill>
                  <a:srgbClr val="F5B400"/>
                </a:solidFill>
              </a:rPr>
              <a:t>0.833</a:t>
            </a:r>
            <a:endParaRPr sz="1650" b="1">
              <a:solidFill>
                <a:srgbClr val="F5B400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715375" y="2190750"/>
            <a:ext cx="238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保留为强召回入口</a:t>
            </a:r>
            <a:endParaRPr sz="1425" b="0">
              <a:solidFill>
                <a:srgbClr val="111827"/>
              </a:solidFill>
              <a:latin typeface="方正公文小标宋" panose="02000500000000000000" charset="-122"/>
              <a:ea typeface="方正公文小标宋" panose="02000500000000000000" charset="-122"/>
              <a:cs typeface="方正公文小标宋" panose="020005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38200" y="3124200"/>
            <a:ext cx="14763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Dense / Embedding</a:t>
            </a:r>
            <a:endParaRPr sz="1650" b="1">
              <a:solidFill>
                <a:srgbClr val="111827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2381250" y="3124200"/>
            <a:ext cx="1809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语义向量</a:t>
            </a:r>
            <a:endParaRPr sz="1425" b="0">
              <a:solidFill>
                <a:srgbClr val="111827"/>
              </a:solidFill>
              <a:latin typeface="方正公文小标宋" panose="02000500000000000000" charset="-122"/>
              <a:ea typeface="方正公文小标宋" panose="02000500000000000000" charset="-122"/>
              <a:cs typeface="方正公文小标宋" panose="020005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4333875" y="3124200"/>
            <a:ext cx="2571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同义表达、隐含语义、跨句理解</a:t>
            </a:r>
            <a:endParaRPr sz="1425" b="0">
              <a:solidFill>
                <a:srgbClr val="111827"/>
              </a:solidFill>
              <a:latin typeface="方正公文小标宋" panose="02000500000000000000" charset="-122"/>
              <a:ea typeface="方正公文小标宋" panose="02000500000000000000" charset="-122"/>
              <a:cs typeface="方正公文小标宋" panose="020005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048500" y="3124200"/>
            <a:ext cx="1524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0.583</a:t>
            </a:r>
            <a:endParaRPr sz="1650" b="1">
              <a:solidFill>
                <a:srgbClr val="64748B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715375" y="3124200"/>
            <a:ext cx="238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换正式 embedding，并接 reranker</a:t>
            </a:r>
            <a:endParaRPr sz="1425" b="0">
              <a:solidFill>
                <a:srgbClr val="111827"/>
              </a:solidFill>
              <a:latin typeface="方正公文小标宋" panose="02000500000000000000" charset="-122"/>
              <a:ea typeface="方正公文小标宋" panose="02000500000000000000" charset="-122"/>
              <a:cs typeface="方正公文小标宋" panose="020005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38200" y="4057650"/>
            <a:ext cx="14763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Hybrid / RRF</a:t>
            </a:r>
            <a:endParaRPr sz="1650" b="1">
              <a:solidFill>
                <a:srgbClr val="111827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2381250" y="4057650"/>
            <a:ext cx="1809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排序融合</a:t>
            </a:r>
            <a:endParaRPr sz="1425" b="0">
              <a:solidFill>
                <a:srgbClr val="111827"/>
              </a:solidFill>
              <a:latin typeface="方正公文小标宋" panose="02000500000000000000" charset="-122"/>
              <a:ea typeface="方正公文小标宋" panose="02000500000000000000" charset="-122"/>
              <a:cs typeface="方正公文小标宋" panose="020005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4333875" y="4057650"/>
            <a:ext cx="2571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术语和语义同时存在的问题</a:t>
            </a:r>
            <a:endParaRPr sz="1425" b="0">
              <a:solidFill>
                <a:srgbClr val="111827"/>
              </a:solidFill>
              <a:latin typeface="方正公文小标宋" panose="02000500000000000000" charset="-122"/>
              <a:ea typeface="方正公文小标宋" panose="02000500000000000000" charset="-122"/>
              <a:cs typeface="方正公文小标宋" panose="020005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048500" y="4057650"/>
            <a:ext cx="1524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769E0"/>
                </a:solidFill>
              </a:defRPr>
            </a:pPr>
            <a:r>
              <a:rPr sz="1650" b="1">
                <a:solidFill>
                  <a:srgbClr val="1769E0"/>
                </a:solidFill>
              </a:rPr>
              <a:t>0.817</a:t>
            </a:r>
            <a:endParaRPr sz="1650" b="1">
              <a:solidFill>
                <a:srgbClr val="1769E0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8715375" y="4057650"/>
            <a:ext cx="238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做 query routing，不能盲目全融合</a:t>
            </a:r>
            <a:endParaRPr sz="1425" b="0">
              <a:solidFill>
                <a:srgbClr val="111827"/>
              </a:solidFill>
              <a:latin typeface="方正公文小标宋" panose="02000500000000000000" charset="-122"/>
              <a:ea typeface="方正公文小标宋" panose="02000500000000000000" charset="-122"/>
              <a:cs typeface="方正公文小标宋" panose="02000500000000000000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914400" y="4933950"/>
            <a:ext cx="9906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所以动力装备资料里大量问题带有明确术语，“最复杂的方法”不一定最高分。下一步应该先判断问题类型，再选择 keyword、dense、hybrid 或 GraphRAG。</a:t>
            </a:r>
            <a:endParaRPr sz="1425" b="0">
              <a:solidFill>
                <a:srgbClr val="111827"/>
              </a:solidFill>
              <a:latin typeface="方正公文小标宋" panose="02000500000000000000" charset="-122"/>
              <a:ea typeface="方正公文小标宋" panose="02000500000000000000" charset="-122"/>
              <a:cs typeface="方正公文小标宋" panose="02000500000000000000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66750" y="44450"/>
            <a:ext cx="10435590" cy="831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ClrTx/>
              <a:buSzTx/>
              <a:buFontTx/>
              <a:defRPr sz="4500" b="1">
                <a:solidFill>
                  <a:srgbClr val="111827"/>
                </a:solidFill>
              </a:defRPr>
            </a:pPr>
            <a:r>
              <a:rPr sz="4800" b="1">
                <a:solidFill>
                  <a:srgbClr val="111827"/>
                </a:solidFill>
                <a:latin typeface="汉仪颜楷简" panose="00020600040101010101" charset="-122"/>
                <a:ea typeface="汉仪颜楷简" panose="00020600040101010101" charset="-122"/>
              </a:rPr>
              <a:t>GraphRAG 把文本连接成实体关系</a:t>
            </a:r>
            <a:endParaRPr sz="4800" b="1">
              <a:solidFill>
                <a:srgbClr val="111827"/>
              </a:solidFill>
              <a:latin typeface="汉仪颜楷简" panose="00020600040101010101" charset="-122"/>
              <a:ea typeface="汉仪颜楷简" panose="00020600040101010101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704850" y="876300"/>
            <a:ext cx="933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图谱不是展示装饰，而是为关系型问题准备证据结构。</a:t>
            </a:r>
            <a:endParaRPr sz="1500" b="0">
              <a:solidFill>
                <a:srgbClr val="334155"/>
              </a:solidFill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438150" y="1257300"/>
            <a:ext cx="11315700" cy="4686300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C7DCF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5" name="矩形 4"/>
          <p:cNvSpPr>
            <a:spLocks noGrp="1"/>
          </p:cNvSpPr>
          <p:nvPr/>
        </p:nvSpPr>
        <p:spPr>
          <a:xfrm>
            <a:off x="438150" y="1257300"/>
            <a:ext cx="11315700" cy="9525"/>
          </a:xfrm>
          <a:prstGeom prst="rect">
            <a:avLst/>
          </a:prstGeom>
          <a:solidFill>
            <a:srgbClr val="0F9F6E"/>
          </a:solidFill>
          <a:ln w="0">
            <a:noFill/>
            <a:prstDash val="solid"/>
          </a:ln>
        </p:spPr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64898" y="1390650"/>
            <a:ext cx="7662203" cy="4343400"/>
          </a:xfrm>
          <a:prstGeom prst="rect">
            <a:avLst/>
          </a:prstGeom>
        </p:spPr>
      </p:pic>
      <p:sp>
        <p:nvSpPr>
          <p:cNvPr id="6" name="矩形 5"/>
          <p:cNvSpPr>
            <a:spLocks noGrp="1"/>
          </p:cNvSpPr>
          <p:nvPr/>
        </p:nvSpPr>
        <p:spPr>
          <a:xfrm>
            <a:off x="819150" y="6038850"/>
            <a:ext cx="10553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0">
                <a:solidFill>
                  <a:srgbClr val="334155"/>
                </a:solidFill>
              </a:defRPr>
            </a:pPr>
            <a:r>
              <a:rPr sz="1425" b="0">
                <a:solidFill>
                  <a:srgbClr val="111827"/>
                </a:solidFill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这里的节点是压气机、燃烧室、涡轮、余热锅炉等对象；边连接故障、工况、指标和证据页。</a:t>
            </a:r>
            <a:endParaRPr sz="1425" b="0">
              <a:solidFill>
                <a:srgbClr val="111827"/>
              </a:solidFill>
              <a:latin typeface="方正公文小标宋" panose="02000500000000000000" charset="-122"/>
              <a:ea typeface="方正公文小标宋" panose="02000500000000000000" charset="-122"/>
              <a:cs typeface="方正公文小标宋" panose="02000500000000000000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66750" y="44450"/>
            <a:ext cx="11860530" cy="1117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ClrTx/>
              <a:buSzTx/>
              <a:buFontTx/>
              <a:defRPr sz="4500" b="1">
                <a:solidFill>
                  <a:srgbClr val="111827"/>
                </a:solidFill>
              </a:defRPr>
            </a:pPr>
            <a:r>
              <a:rPr sz="4800" b="1">
                <a:solidFill>
                  <a:srgbClr val="111827"/>
                </a:solidFill>
                <a:latin typeface="汉仪颜楷简" panose="00020600040101010101" charset="-122"/>
                <a:ea typeface="汉仪颜楷简" panose="00020600040101010101" charset="-122"/>
              </a:rPr>
              <a:t>GraphRAG不是替代所有RAG的万能路线</a:t>
            </a:r>
            <a:endParaRPr sz="4800" b="1">
              <a:solidFill>
                <a:srgbClr val="111827"/>
              </a:solidFill>
              <a:latin typeface="汉仪颜楷简" panose="00020600040101010101" charset="-122"/>
              <a:ea typeface="汉仪颜楷简" panose="00020600040101010101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704850" y="876300"/>
            <a:ext cx="933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具体功能是事实检索、关系追踪、社区摘要和全局综合，按问题类型选择路线。</a:t>
            </a:r>
            <a:endParaRPr sz="1500" b="0">
              <a:solidFill>
                <a:srgbClr val="334155"/>
              </a:solidFill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438150" y="1257300"/>
            <a:ext cx="11315700" cy="4686300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C7DCF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5" name="矩形 4"/>
          <p:cNvSpPr>
            <a:spLocks noGrp="1"/>
          </p:cNvSpPr>
          <p:nvPr/>
        </p:nvSpPr>
        <p:spPr>
          <a:xfrm>
            <a:off x="438150" y="1257300"/>
            <a:ext cx="11315700" cy="9525"/>
          </a:xfrm>
          <a:prstGeom prst="rect">
            <a:avLst/>
          </a:prstGeom>
          <a:solidFill>
            <a:srgbClr val="6D5BD0"/>
          </a:solidFill>
          <a:ln w="0">
            <a:noFill/>
            <a:prstDash val="solid"/>
          </a:ln>
        </p:spPr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6133" y="1390650"/>
            <a:ext cx="7979735" cy="4343400"/>
          </a:xfrm>
          <a:prstGeom prst="rect">
            <a:avLst/>
          </a:prstGeom>
        </p:spPr>
      </p:pic>
      <p:sp>
        <p:nvSpPr>
          <p:cNvPr id="6" name="矩形 5"/>
          <p:cNvSpPr>
            <a:spLocks noGrp="1"/>
          </p:cNvSpPr>
          <p:nvPr/>
        </p:nvSpPr>
        <p:spPr>
          <a:xfrm>
            <a:off x="819150" y="6038850"/>
            <a:ext cx="10553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0">
                <a:solidFill>
                  <a:srgbClr val="334155"/>
                </a:solidFill>
              </a:defRPr>
            </a:pPr>
            <a:r>
              <a:rPr sz="1425" b="0">
                <a:solidFill>
                  <a:srgbClr val="111827"/>
                </a:solidFill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它服务的是动力装备知识库里的部件、故障、工况和维修动作，不是泛泛展示一张图。</a:t>
            </a:r>
            <a:endParaRPr sz="1425" b="0">
              <a:solidFill>
                <a:srgbClr val="111827"/>
              </a:solidFill>
              <a:latin typeface="方正公文小标宋" panose="02000500000000000000" charset="-122"/>
              <a:ea typeface="方正公文小标宋" panose="02000500000000000000" charset="-122"/>
              <a:cs typeface="方正公文小标宋" panose="02000500000000000000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66750" y="116840"/>
            <a:ext cx="8763000" cy="7594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ClrTx/>
              <a:buSzTx/>
              <a:buFontTx/>
              <a:defRPr sz="4500" b="1">
                <a:solidFill>
                  <a:srgbClr val="111827"/>
                </a:solidFill>
              </a:defRPr>
            </a:pPr>
            <a:r>
              <a:rPr sz="4800" b="1">
                <a:solidFill>
                  <a:srgbClr val="111827"/>
                </a:solidFill>
                <a:latin typeface="汉仪颜楷简" panose="00020600040101010101" charset="-122"/>
                <a:ea typeface="汉仪颜楷简" panose="00020600040101010101" charset="-122"/>
              </a:rPr>
              <a:t>系统从页面走向工程化分层</a:t>
            </a:r>
            <a:endParaRPr sz="4800" b="1">
              <a:solidFill>
                <a:srgbClr val="111827"/>
              </a:solidFill>
              <a:latin typeface="汉仪颜楷简" panose="00020600040101010101" charset="-122"/>
              <a:ea typeface="汉仪颜楷简" panose="00020600040101010101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704850" y="876300"/>
            <a:ext cx="933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data_pipeline、retrieval_engine、kg_pipeline、orchestrator、evaluation 各司其职。</a:t>
            </a:r>
            <a:endParaRPr sz="1500" b="0">
              <a:solidFill>
                <a:srgbClr val="334155"/>
              </a:solidFill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438150" y="1257300"/>
            <a:ext cx="11315700" cy="4686300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C7DCF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5" name="矩形 4"/>
          <p:cNvSpPr>
            <a:spLocks noGrp="1"/>
          </p:cNvSpPr>
          <p:nvPr/>
        </p:nvSpPr>
        <p:spPr>
          <a:xfrm>
            <a:off x="438150" y="1257300"/>
            <a:ext cx="11315700" cy="9525"/>
          </a:xfrm>
          <a:prstGeom prst="rect">
            <a:avLst/>
          </a:prstGeom>
          <a:solidFill>
            <a:srgbClr val="1769E0"/>
          </a:solidFill>
          <a:ln w="0">
            <a:noFill/>
            <a:prstDash val="solid"/>
          </a:ln>
        </p:spPr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9568" y="1390650"/>
            <a:ext cx="8312865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704850" y="44450"/>
            <a:ext cx="8763000" cy="831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ClrTx/>
              <a:buSzTx/>
              <a:buFontTx/>
              <a:defRPr sz="4500" b="1">
                <a:solidFill>
                  <a:srgbClr val="111827"/>
                </a:solidFill>
              </a:defRPr>
            </a:pPr>
            <a:r>
              <a:rPr sz="4800" b="1">
                <a:solidFill>
                  <a:srgbClr val="111827"/>
                </a:solidFill>
                <a:latin typeface="汉仪颜楷简" panose="00020600040101010101" charset="-122"/>
                <a:ea typeface="汉仪颜楷简" panose="00020600040101010101" charset="-122"/>
              </a:rPr>
              <a:t>失败归因把问题变成优化路线图</a:t>
            </a:r>
            <a:endParaRPr sz="4800" b="1">
              <a:solidFill>
                <a:srgbClr val="111827"/>
              </a:solidFill>
              <a:latin typeface="汉仪颜楷简" panose="00020600040101010101" charset="-122"/>
              <a:ea typeface="汉仪颜楷简" panose="00020600040101010101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704850" y="876300"/>
            <a:ext cx="933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失败不是结束，而是下一轮 source scope、reranker、router 和 GraphRAG 子集实测。</a:t>
            </a:r>
            <a:endParaRPr sz="1500" b="0">
              <a:solidFill>
                <a:srgbClr val="334155"/>
              </a:solidFill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438150" y="1257300"/>
            <a:ext cx="11315700" cy="4686300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C7DCF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5" name="矩形 4"/>
          <p:cNvSpPr>
            <a:spLocks noGrp="1"/>
          </p:cNvSpPr>
          <p:nvPr/>
        </p:nvSpPr>
        <p:spPr>
          <a:xfrm>
            <a:off x="438150" y="1257300"/>
            <a:ext cx="11315700" cy="9525"/>
          </a:xfrm>
          <a:prstGeom prst="rect">
            <a:avLst/>
          </a:prstGeom>
          <a:solidFill>
            <a:srgbClr val="E65353"/>
          </a:solidFill>
          <a:ln w="0">
            <a:noFill/>
            <a:prstDash val="solid"/>
          </a:ln>
        </p:spPr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9276" y="1390650"/>
            <a:ext cx="7933448" cy="4343400"/>
          </a:xfrm>
          <a:prstGeom prst="rect">
            <a:avLst/>
          </a:prstGeom>
        </p:spPr>
      </p:pic>
      <p:sp>
        <p:nvSpPr>
          <p:cNvPr id="6" name="矩形 5"/>
          <p:cNvSpPr>
            <a:spLocks noGrp="1"/>
          </p:cNvSpPr>
          <p:nvPr/>
        </p:nvSpPr>
        <p:spPr>
          <a:xfrm>
            <a:off x="819150" y="6038850"/>
            <a:ext cx="10553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0">
                <a:solidFill>
                  <a:srgbClr val="334155"/>
                </a:solidFill>
              </a:defRPr>
            </a:pPr>
            <a:r>
              <a:rPr sz="1425" b="0">
                <a:solidFill>
                  <a:srgbClr val="111827"/>
                </a:solidFill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失败项不是只看分数，而是定位到 source scope、部件术语、证据页和 GraphRAG 子集。</a:t>
            </a:r>
            <a:endParaRPr sz="1425" b="0">
              <a:solidFill>
                <a:srgbClr val="111827"/>
              </a:solidFill>
              <a:latin typeface="方正公文小标宋" panose="02000500000000000000" charset="-122"/>
              <a:ea typeface="方正公文小标宋" panose="02000500000000000000" charset="-122"/>
              <a:cs typeface="方正公文小标宋" panose="02000500000000000000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66750" y="260350"/>
            <a:ext cx="7239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ClrTx/>
              <a:buSzTx/>
              <a:buFontTx/>
              <a:defRPr sz="4500" b="1">
                <a:solidFill>
                  <a:srgbClr val="111827"/>
                </a:solidFill>
              </a:defRPr>
            </a:pPr>
            <a:r>
              <a:rPr sz="4800" b="1">
                <a:solidFill>
                  <a:srgbClr val="111827"/>
                </a:solidFill>
                <a:latin typeface="汉仪颜楷简" panose="00020600040101010101" charset="-122"/>
                <a:ea typeface="汉仪颜楷简" panose="00020600040101010101" charset="-122"/>
              </a:rPr>
              <a:t>两个入口</a:t>
            </a:r>
            <a:endParaRPr sz="4800" b="1">
              <a:solidFill>
                <a:srgbClr val="111827"/>
              </a:solidFill>
              <a:latin typeface="汉仪颜楷简" panose="00020600040101010101" charset="-122"/>
              <a:ea typeface="汉仪颜楷简" panose="00020600040101010101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704850" y="1181100"/>
            <a:ext cx="8191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334155"/>
                </a:solidFill>
              </a:defRPr>
            </a:pPr>
            <a:r>
              <a:rPr sz="1650" b="0">
                <a:solidFill>
                  <a:srgbClr val="334155"/>
                </a:solidFill>
              </a:rPr>
              <a:t>避免现场把时间花在解释每个按钮上，只展示能打开、能评测、能出报告。</a:t>
            </a:r>
            <a:endParaRPr sz="1650" b="0">
              <a:solidFill>
                <a:srgbClr val="334155"/>
              </a:solidFill>
            </a:endParaRPr>
          </a:p>
        </p:txBody>
      </p:sp>
      <p:sp>
        <p:nvSpPr>
          <p:cNvPr id="4" name="圆角矩形 3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85800" y="1657350"/>
            <a:ext cx="4762500" cy="333375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9525">
            <a:solidFill>
              <a:srgbClr val="DBE7F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5" name="圆角矩形 4"/>
          <p:cNvSpPr>
            <a:spLocks noGrp="1"/>
          </p:cNvSpPr>
          <p:nvPr/>
        </p:nvSpPr>
        <p:spPr>
          <a:xfrm>
            <a:off x="5962650" y="1600200"/>
            <a:ext cx="5334000" cy="34290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C7DCF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6" name="矩形 5"/>
          <p:cNvSpPr>
            <a:spLocks noGrp="1"/>
          </p:cNvSpPr>
          <p:nvPr/>
        </p:nvSpPr>
        <p:spPr>
          <a:xfrm>
            <a:off x="5962650" y="1600200"/>
            <a:ext cx="5334000" cy="9525"/>
          </a:xfrm>
          <a:prstGeom prst="rect">
            <a:avLst/>
          </a:prstGeom>
          <a:solidFill>
            <a:srgbClr val="1769E0"/>
          </a:solidFill>
          <a:ln w="0">
            <a:noFill/>
            <a:prstDash val="solid"/>
          </a:ln>
        </p:spPr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0300" y="2146293"/>
            <a:ext cx="4838700" cy="2279665"/>
          </a:xfrm>
          <a:prstGeom prst="rect">
            <a:avLst/>
          </a:prstGeom>
        </p:spPr>
      </p:pic>
      <p:sp>
        <p:nvSpPr>
          <p:cNvPr id="7" name="矩形 6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876300" y="1905000"/>
            <a:ext cx="114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769E0"/>
                </a:solidFill>
              </a:defRPr>
            </a:pPr>
            <a:r>
              <a:rPr sz="1800" b="1">
                <a:solidFill>
                  <a:srgbClr val="1769E0"/>
                </a:solidFill>
              </a:rPr>
              <a:t>入口 1</a:t>
            </a:r>
            <a:endParaRPr sz="1800" b="1">
              <a:solidFill>
                <a:srgbClr val="1769E0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2000250" y="1924050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https://javonloong.github.io/RAG/</a:t>
            </a:r>
            <a:endParaRPr sz="1425" b="0">
              <a:solidFill>
                <a:srgbClr val="111827"/>
              </a:solidFill>
              <a:latin typeface="方正公文小标宋" panose="02000500000000000000" charset="-122"/>
              <a:ea typeface="方正公文小标宋" panose="02000500000000000000" charset="-122"/>
              <a:cs typeface="方正公文小标宋" panose="020005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876300" y="2686050"/>
            <a:ext cx="114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769E0"/>
                </a:solidFill>
              </a:defRPr>
            </a:pPr>
            <a:r>
              <a:rPr sz="1800" b="1">
                <a:solidFill>
                  <a:srgbClr val="1769E0"/>
                </a:solidFill>
              </a:rPr>
              <a:t>入口 2</a:t>
            </a:r>
            <a:endParaRPr sz="1800" b="1">
              <a:solidFill>
                <a:srgbClr val="1769E0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2000250" y="2705100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javonloong.github.io/RAG/evaluation.html</a:t>
            </a:r>
            <a:endParaRPr sz="1425" b="0">
              <a:solidFill>
                <a:srgbClr val="111827"/>
              </a:solidFill>
              <a:latin typeface="方正公文小标宋" panose="02000500000000000000" charset="-122"/>
              <a:ea typeface="方正公文小标宋" panose="02000500000000000000" charset="-122"/>
              <a:cs typeface="方正公文小标宋" panose="020005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876300" y="3467100"/>
            <a:ext cx="114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769E0"/>
                </a:solidFill>
              </a:defRPr>
            </a:pPr>
            <a:r>
              <a:rPr sz="1800" b="1">
                <a:solidFill>
                  <a:srgbClr val="1769E0"/>
                </a:solidFill>
              </a:rPr>
              <a:t>动作</a:t>
            </a:r>
            <a:endParaRPr sz="1800" b="1">
              <a:solidFill>
                <a:srgbClr val="1769E0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2000250" y="3486150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导入仓库 → 开始评测 → 看总分 / baseline / 复制报告</a:t>
            </a:r>
            <a:endParaRPr sz="1425" b="0">
              <a:solidFill>
                <a:srgbClr val="111827"/>
              </a:solidFill>
              <a:latin typeface="方正公文小标宋" panose="02000500000000000000" charset="-122"/>
              <a:ea typeface="方正公文小标宋" panose="02000500000000000000" charset="-122"/>
              <a:cs typeface="方正公文小标宋" panose="020005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876300" y="4248150"/>
            <a:ext cx="114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769E0"/>
                </a:solidFill>
              </a:defRPr>
            </a:pPr>
            <a:r>
              <a:rPr sz="1800" b="1">
                <a:solidFill>
                  <a:srgbClr val="1769E0"/>
                </a:solidFill>
              </a:rPr>
              <a:t>兜底</a:t>
            </a:r>
            <a:endParaRPr sz="1800" b="1">
              <a:solidFill>
                <a:srgbClr val="1769E0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2000250" y="4267200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GitHub API 403 时切换到内置快照继续演示</a:t>
            </a:r>
            <a:endParaRPr sz="1425" b="0">
              <a:solidFill>
                <a:srgbClr val="111827"/>
              </a:solidFill>
              <a:latin typeface="方正公文小标宋" panose="02000500000000000000" charset="-122"/>
              <a:ea typeface="方正公文小标宋" panose="02000500000000000000" charset="-122"/>
              <a:cs typeface="方正公文小标宋" panose="02000500000000000000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762000" y="742950"/>
            <a:ext cx="1428750" cy="38100"/>
          </a:xfrm>
          <a:prstGeom prst="rect">
            <a:avLst/>
          </a:prstGeom>
          <a:solidFill>
            <a:srgbClr val="1769E0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2247900" y="742950"/>
            <a:ext cx="552450" cy="38100"/>
          </a:xfrm>
          <a:prstGeom prst="rect">
            <a:avLst/>
          </a:prstGeom>
          <a:solidFill>
            <a:srgbClr val="0F9F6E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2857500" y="742950"/>
            <a:ext cx="323850" cy="38100"/>
          </a:xfrm>
          <a:prstGeom prst="rect">
            <a:avLst/>
          </a:prstGeom>
          <a:solidFill>
            <a:srgbClr val="F5B400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81050" y="1009650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64748B"/>
                </a:solidFill>
              </a:defRPr>
            </a:pPr>
            <a:endParaRPr sz="1800" b="1">
              <a:solidFill>
                <a:srgbClr val="64748B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42950" y="1428750"/>
            <a:ext cx="723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ClrTx/>
              <a:buSzTx/>
              <a:buFontTx/>
              <a:defRPr sz="4500" b="1">
                <a:solidFill>
                  <a:srgbClr val="111827"/>
                </a:solidFill>
              </a:defRPr>
            </a:pPr>
            <a:r>
              <a:rPr sz="4800" b="1">
                <a:solidFill>
                  <a:srgbClr val="111827"/>
                </a:solidFill>
                <a:latin typeface="汉仪颜楷简" panose="00020600040101010101" charset="-122"/>
                <a:ea typeface="汉仪颜楷简" panose="00020600040101010101" charset="-122"/>
              </a:rPr>
              <a:t>让动力装备资料真正变成</a:t>
            </a:r>
            <a:endParaRPr sz="4800" b="1">
              <a:solidFill>
                <a:srgbClr val="111827"/>
              </a:solidFill>
              <a:latin typeface="汉仪颜楷简" panose="00020600040101010101" charset="-122"/>
              <a:ea typeface="汉仪颜楷简" panose="00020600040101010101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42950" y="2076450"/>
            <a:ext cx="10653395" cy="673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ClrTx/>
              <a:buSzTx/>
              <a:buFontTx/>
              <a:defRPr sz="4500" b="1">
                <a:solidFill>
                  <a:srgbClr val="111827"/>
                </a:solidFill>
              </a:defRPr>
            </a:pPr>
            <a:r>
              <a:rPr sz="4800" b="0">
                <a:latin typeface="汉仪颜楷简" panose="00020600040101010101" charset="-122"/>
                <a:ea typeface="汉仪颜楷简" panose="00020600040101010101" charset="-122"/>
              </a:rPr>
              <a:t>可</a:t>
            </a:r>
            <a:r>
              <a:rPr sz="4800" b="0">
                <a:solidFill>
                  <a:srgbClr val="111827"/>
                </a:solidFill>
                <a:latin typeface="汉仪颜楷简" panose="00020600040101010101" charset="-122"/>
                <a:ea typeface="汉仪颜楷简" panose="00020600040101010101" charset="-122"/>
              </a:rPr>
              <a:t>检索</a:t>
            </a:r>
            <a:r>
              <a:rPr sz="4800" b="0">
                <a:latin typeface="汉仪颜楷简" panose="00020600040101010101" charset="-122"/>
                <a:ea typeface="汉仪颜楷简" panose="00020600040101010101" charset="-122"/>
              </a:rPr>
              <a:t>、可引用、可评测的可信答案</a:t>
            </a:r>
            <a:endParaRPr sz="4800" b="0">
              <a:latin typeface="汉仪颜楷简" panose="00020600040101010101" charset="-122"/>
              <a:ea typeface="汉仪颜楷简" panose="00020600040101010101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81050" y="2914650"/>
            <a:ext cx="9334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我们做的不是一个普通问答页面，而是一套面向动力装备知识库的可复核系统。</a:t>
            </a:r>
            <a:endParaRPr sz="1425" b="0">
              <a:solidFill>
                <a:srgbClr val="111827"/>
              </a:solidFill>
              <a:latin typeface="方正公文小标宋" panose="02000500000000000000" charset="-122"/>
              <a:ea typeface="方正公文小标宋" panose="02000500000000000000" charset="-122"/>
              <a:cs typeface="方正公文小标宋" panose="020005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952500" y="3943350"/>
            <a:ext cx="8858250" cy="19050"/>
          </a:xfrm>
          <a:prstGeom prst="rect">
            <a:avLst/>
          </a:prstGeom>
          <a:solidFill>
            <a:srgbClr val="DBE7FB"/>
          </a:solidFill>
          <a:ln w="0">
            <a:noFill/>
            <a:prstDash val="solid"/>
          </a:ln>
        </p:spPr>
      </p:sp>
      <p:sp>
        <p:nvSpPr>
          <p:cNvPr id="10" name="椭圆 9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914400" y="3829050"/>
            <a:ext cx="247650" cy="24765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769E0"/>
            </a:solidFill>
            <a:prstDash val="solid"/>
          </a:ln>
        </p:spPr>
      </p:sp>
      <p:sp>
        <p:nvSpPr>
          <p:cNvPr id="11" name="椭圆 10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981075" y="3895725"/>
            <a:ext cx="114300" cy="114300"/>
          </a:xfrm>
          <a:prstGeom prst="ellipse">
            <a:avLst/>
          </a:prstGeom>
          <a:solidFill>
            <a:srgbClr val="1769E0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838200" y="4248150"/>
            <a:ext cx="1524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769E0"/>
                </a:solidFill>
              </a:defRPr>
            </a:pPr>
            <a:r>
              <a:rPr sz="1800" b="1">
                <a:solidFill>
                  <a:srgbClr val="1769E0"/>
                </a:solidFill>
              </a:rPr>
              <a:t>资料接入</a:t>
            </a:r>
            <a:endParaRPr sz="1800" b="1">
              <a:solidFill>
                <a:srgbClr val="1769E0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838200" y="4591050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334155"/>
                </a:solidFill>
              </a:defRPr>
            </a:pPr>
            <a:r>
              <a:rPr sz="1425" b="0">
                <a:solidFill>
                  <a:srgbClr val="334155"/>
                </a:solidFill>
              </a:rPr>
              <a:t>PDF / 扫描页 / JSON 标注</a:t>
            </a:r>
            <a:endParaRPr sz="1425" b="0">
              <a:solidFill>
                <a:srgbClr val="334155"/>
              </a:solidFill>
            </a:endParaRPr>
          </a:p>
        </p:txBody>
      </p:sp>
      <p:sp>
        <p:nvSpPr>
          <p:cNvPr id="14" name="椭圆 13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3867150" y="3829050"/>
            <a:ext cx="247650" cy="24765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F9F6E"/>
            </a:solidFill>
            <a:prstDash val="solid"/>
          </a:ln>
        </p:spPr>
      </p:sp>
      <p:sp>
        <p:nvSpPr>
          <p:cNvPr id="15" name="椭圆 14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3933825" y="3895725"/>
            <a:ext cx="114300" cy="114300"/>
          </a:xfrm>
          <a:prstGeom prst="ellipse">
            <a:avLst/>
          </a:prstGeom>
          <a:solidFill>
            <a:srgbClr val="0F9F6E"/>
          </a:solidFill>
          <a:ln w="0">
            <a:noFill/>
            <a:prstDash val="solid"/>
          </a:ln>
        </p:spPr>
      </p:sp>
      <p:sp>
        <p:nvSpPr>
          <p:cNvPr id="16" name="矩形 15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3790950" y="4248150"/>
            <a:ext cx="1524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F9F6E"/>
                </a:solidFill>
              </a:defRPr>
            </a:pPr>
            <a:r>
              <a:rPr sz="1800" b="1">
                <a:solidFill>
                  <a:srgbClr val="0F9F6E"/>
                </a:solidFill>
              </a:rPr>
              <a:t>证据构建</a:t>
            </a:r>
            <a:endParaRPr sz="1800" b="1">
              <a:solidFill>
                <a:srgbClr val="0F9F6E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3790950" y="4591050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334155"/>
                </a:solidFill>
              </a:defRPr>
            </a:pPr>
            <a:r>
              <a:rPr sz="1425" b="0">
                <a:solidFill>
                  <a:srgbClr val="334155"/>
                </a:solidFill>
              </a:rPr>
              <a:t>页码、来源、metadata</a:t>
            </a:r>
            <a:endParaRPr sz="1425" b="0">
              <a:solidFill>
                <a:srgbClr val="334155"/>
              </a:solidFill>
            </a:endParaRPr>
          </a:p>
        </p:txBody>
      </p:sp>
      <p:sp>
        <p:nvSpPr>
          <p:cNvPr id="18" name="椭圆 17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6819900" y="3829050"/>
            <a:ext cx="247650" cy="24765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6D5BD0"/>
            </a:solidFill>
            <a:prstDash val="solid"/>
          </a:ln>
        </p:spPr>
      </p:sp>
      <p:sp>
        <p:nvSpPr>
          <p:cNvPr id="19" name="椭圆 18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6886575" y="3895725"/>
            <a:ext cx="114300" cy="114300"/>
          </a:xfrm>
          <a:prstGeom prst="ellipse">
            <a:avLst/>
          </a:prstGeom>
          <a:solidFill>
            <a:srgbClr val="6D5BD0"/>
          </a:solidFill>
          <a:ln w="0">
            <a:noFill/>
            <a:prstDash val="solid"/>
          </a:ln>
        </p:spPr>
      </p:sp>
      <p:sp>
        <p:nvSpPr>
          <p:cNvPr id="20" name="矩形 19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6743700" y="4248150"/>
            <a:ext cx="1524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6D5BD0"/>
                </a:solidFill>
              </a:defRPr>
            </a:pPr>
            <a:r>
              <a:rPr sz="1800" b="1">
                <a:solidFill>
                  <a:srgbClr val="6D5BD0"/>
                </a:solidFill>
              </a:rPr>
              <a:t>关系理解</a:t>
            </a:r>
            <a:endParaRPr sz="1800" b="1">
              <a:solidFill>
                <a:srgbClr val="6D5BD0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6743700" y="4591050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334155"/>
                </a:solidFill>
              </a:defRPr>
            </a:pPr>
            <a:r>
              <a:rPr sz="1425" b="0">
                <a:solidFill>
                  <a:srgbClr val="334155"/>
                </a:solidFill>
              </a:rPr>
              <a:t>部件、故障、工况、维修动作</a:t>
            </a:r>
            <a:endParaRPr sz="1425" b="0">
              <a:solidFill>
                <a:srgbClr val="334155"/>
              </a:solidFill>
            </a:endParaRPr>
          </a:p>
        </p:txBody>
      </p:sp>
      <p:sp>
        <p:nvSpPr>
          <p:cNvPr id="22" name="椭圆 21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9772650" y="3829050"/>
            <a:ext cx="247650" cy="24765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E65353"/>
            </a:solidFill>
            <a:prstDash val="solid"/>
          </a:ln>
        </p:spPr>
      </p:sp>
      <p:sp>
        <p:nvSpPr>
          <p:cNvPr id="23" name="椭圆 22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9839325" y="3895725"/>
            <a:ext cx="114300" cy="114300"/>
          </a:xfrm>
          <a:prstGeom prst="ellipse">
            <a:avLst/>
          </a:prstGeom>
          <a:solidFill>
            <a:srgbClr val="E65353"/>
          </a:solidFill>
          <a:ln w="0">
            <a:noFill/>
            <a:prstDash val="solid"/>
          </a:ln>
        </p:spPr>
      </p:sp>
      <p:sp>
        <p:nvSpPr>
          <p:cNvPr id="24" name="矩形 23"/>
          <p:cNvSpPr>
            <a:spLocks noGrp="1"/>
          </p:cNvSpPr>
          <p:nvPr>
            <p:custDataLst>
              <p:tags r:id="rId16"/>
            </p:custDataLst>
          </p:nvPr>
        </p:nvSpPr>
        <p:spPr>
          <a:xfrm>
            <a:off x="9696450" y="4248150"/>
            <a:ext cx="1524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E65353"/>
                </a:solidFill>
              </a:defRPr>
            </a:pPr>
            <a:r>
              <a:rPr sz="1800" b="1">
                <a:solidFill>
                  <a:srgbClr val="E65353"/>
                </a:solidFill>
              </a:rPr>
              <a:t>评测闭环</a:t>
            </a:r>
            <a:endParaRPr sz="1800" b="1">
              <a:solidFill>
                <a:srgbClr val="E65353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>
            <p:custDataLst>
              <p:tags r:id="rId17"/>
            </p:custDataLst>
          </p:nvPr>
        </p:nvSpPr>
        <p:spPr>
          <a:xfrm>
            <a:off x="9696450" y="4591050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334155"/>
                </a:solidFill>
              </a:defRPr>
            </a:pPr>
            <a:r>
              <a:rPr lang="zh-CN" sz="1425" b="0">
                <a:solidFill>
                  <a:srgbClr val="334155"/>
                </a:solidFill>
                <a:ea typeface="宋体" panose="02010600030101010101" pitchFamily="2" charset="-122"/>
              </a:rPr>
              <a:t>题目</a:t>
            </a:r>
            <a:r>
              <a:rPr sz="1425" b="0">
                <a:solidFill>
                  <a:srgbClr val="334155"/>
                </a:solidFill>
              </a:rPr>
              <a:t>、baseline、失败归因</a:t>
            </a:r>
            <a:endParaRPr sz="1425" b="0">
              <a:solidFill>
                <a:srgbClr val="334155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781050" y="5410200"/>
            <a:ext cx="809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334155"/>
                </a:solidFill>
              </a:defRPr>
            </a:pPr>
            <a:r>
              <a:rPr sz="1425" b="0">
                <a:solidFill>
                  <a:srgbClr val="111827"/>
                </a:solidFill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已经完成：资料接入、OCR 试错、索引、GraphRAG 链路、60 题评测和失败归因</a:t>
            </a:r>
            <a:endParaRPr sz="1425" b="0">
              <a:solidFill>
                <a:srgbClr val="111827"/>
              </a:solidFill>
              <a:latin typeface="方正公文小标宋" panose="02000500000000000000" charset="-122"/>
              <a:ea typeface="方正公文小标宋" panose="02000500000000000000" charset="-122"/>
              <a:cs typeface="方正公文小标宋" panose="02000500000000000000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781050" y="5753100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334155"/>
                </a:solidFill>
              </a:defRPr>
            </a:pPr>
            <a:r>
              <a:rPr sz="1425" b="0">
                <a:solidFill>
                  <a:srgbClr val="111827"/>
                </a:solidFill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下一步：正式 embedding、reranker、GraphRAG local/global 同题实测和权限化任务队列</a:t>
            </a:r>
            <a:endParaRPr sz="1425" b="0">
              <a:solidFill>
                <a:srgbClr val="111827"/>
              </a:solidFill>
              <a:latin typeface="方正公文小标宋" panose="02000500000000000000" charset="-122"/>
              <a:ea typeface="方正公文小标宋" panose="02000500000000000000" charset="-122"/>
              <a:cs typeface="方正公文小标宋" panose="02000500000000000000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9029700" y="5581650"/>
            <a:ext cx="2190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谢谢老师</a:t>
            </a:r>
            <a:endParaRPr sz="2850" b="1">
              <a:solidFill>
                <a:srgbClr val="111827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9925050" y="6115050"/>
            <a:ext cx="1295400" cy="28575"/>
          </a:xfrm>
          <a:prstGeom prst="rect">
            <a:avLst/>
          </a:prstGeom>
          <a:solidFill>
            <a:srgbClr val="1769E0"/>
          </a:solidFill>
          <a:ln w="0">
            <a:noFill/>
            <a:prstDash val="solid"/>
          </a:ln>
        </p:spPr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62.5,&quot;left&quot;:54,&quot;top&quot;:130.5,&quot;width&quot;:396}"/>
</p:tagLst>
</file>

<file path=ppt/tags/tag2.xml><?xml version="1.0" encoding="utf-8"?>
<p:tagLst xmlns:p="http://schemas.openxmlformats.org/presentationml/2006/main">
  <p:tag name="KSO_WM_DIAGRAM_VIRTUALLY_FRAME" val="{&quot;height&quot;:262.5,&quot;left&quot;:54,&quot;top&quot;:130.5,&quot;width&quot;:396}"/>
</p:tagLst>
</file>

<file path=ppt/tags/tag3.xml><?xml version="1.0" encoding="utf-8"?>
<p:tagLst xmlns:p="http://schemas.openxmlformats.org/presentationml/2006/main">
  <p:tag name="KSO_WM_DIAGRAM_VIRTUALLY_FRAME" val="{&quot;height&quot;:262.5,&quot;left&quot;:54,&quot;top&quot;:130.5,&quot;width&quot;:396}"/>
</p:tagLst>
</file>

<file path=ppt/tags/tag4.xml><?xml version="1.0" encoding="utf-8"?>
<p:tagLst xmlns:p="http://schemas.openxmlformats.org/presentationml/2006/main">
  <p:tag name="KSO_WM_DIAGRAM_VIRTUALLY_FRAME" val="{&quot;height&quot;:262.5,&quot;left&quot;:54,&quot;top&quot;:130.5,&quot;width&quot;:396}"/>
</p:tagLst>
</file>

<file path=ppt/tags/tag5.xml><?xml version="1.0" encoding="utf-8"?>
<p:tagLst xmlns:p="http://schemas.openxmlformats.org/presentationml/2006/main">
  <p:tag name="KSO_WM_DIAGRAM_VIRTUALLY_FRAME" val="{&quot;height&quot;:262.5,&quot;left&quot;:54,&quot;top&quot;:130.5,&quot;width&quot;:396}"/>
</p:tagLst>
</file>

<file path=ppt/tags/tag6.xml><?xml version="1.0" encoding="utf-8"?>
<p:tagLst xmlns:p="http://schemas.openxmlformats.org/presentationml/2006/main">
  <p:tag name="KSO_WM_DIAGRAM_VIRTUALLY_FRAME" val="{&quot;height&quot;:262.5,&quot;left&quot;:54,&quot;top&quot;:130.5,&quot;width&quot;:396}"/>
</p:tagLst>
</file>

<file path=ppt/tags/tag7.xml><?xml version="1.0" encoding="utf-8"?>
<p:tagLst xmlns:p="http://schemas.openxmlformats.org/presentationml/2006/main">
  <p:tag name="KSO_WM_DIAGRAM_VIRTUALLY_FRAME" val="{&quot;height&quot;:262.5,&quot;left&quot;:54,&quot;top&quot;:130.5,&quot;width&quot;:396}"/>
</p:tagLst>
</file>

<file path=ppt/tags/tag8.xml><?xml version="1.0" encoding="utf-8"?>
<p:tagLst xmlns:p="http://schemas.openxmlformats.org/presentationml/2006/main">
  <p:tag name="KSO_WM_DIAGRAM_VIRTUALLY_FRAME" val="{&quot;height&quot;:262.5,&quot;left&quot;:54,&quot;top&quot;:130.5,&quot;width&quot;:396}"/>
</p:tagLst>
</file>

<file path=ppt/tags/tag9.xml><?xml version="1.0" encoding="utf-8"?>
<p:tagLst xmlns:p="http://schemas.openxmlformats.org/presentationml/2006/main">
  <p:tag name="KSO_WM_DIAGRAM_VIRTUALLY_FRAME" val="{&quot;height&quot;:262.5,&quot;left&quot;:54,&quot;top&quot;:130.5,&quot;width&quot;:396}"/>
</p:tagLst>
</file>

<file path=ppt/tags/tag10.xml><?xml version="1.0" encoding="utf-8"?>
<p:tagLst xmlns:p="http://schemas.openxmlformats.org/presentationml/2006/main">
  <p:tag name="KSO_WM_DIAGRAM_VIRTUALLY_FRAME" val="{&quot;height&quot;:82.5,&quot;left&quot;:66,&quot;top&quot;:301.5,&quot;width&quot;:900}"/>
</p:tagLst>
</file>

<file path=ppt/tags/tag11.xml><?xml version="1.0" encoding="utf-8"?>
<p:tagLst xmlns:p="http://schemas.openxmlformats.org/presentationml/2006/main">
  <p:tag name="KSO_WM_DIAGRAM_VIRTUALLY_FRAME" val="{&quot;height&quot;:82.5,&quot;left&quot;:66,&quot;top&quot;:301.5,&quot;width&quot;:900}"/>
</p:tagLst>
</file>

<file path=ppt/tags/tag12.xml><?xml version="1.0" encoding="utf-8"?>
<p:tagLst xmlns:p="http://schemas.openxmlformats.org/presentationml/2006/main">
  <p:tag name="KSO_WM_DIAGRAM_VIRTUALLY_FRAME" val="{&quot;height&quot;:82.5,&quot;left&quot;:66,&quot;top&quot;:301.5,&quot;width&quot;:900}"/>
</p:tagLst>
</file>

<file path=ppt/tags/tag13.xml><?xml version="1.0" encoding="utf-8"?>
<p:tagLst xmlns:p="http://schemas.openxmlformats.org/presentationml/2006/main">
  <p:tag name="KSO_WM_DIAGRAM_VIRTUALLY_FRAME" val="{&quot;height&quot;:82.5,&quot;left&quot;:66,&quot;top&quot;:301.5,&quot;width&quot;:900}"/>
</p:tagLst>
</file>

<file path=ppt/tags/tag14.xml><?xml version="1.0" encoding="utf-8"?>
<p:tagLst xmlns:p="http://schemas.openxmlformats.org/presentationml/2006/main">
  <p:tag name="KSO_WM_DIAGRAM_VIRTUALLY_FRAME" val="{&quot;height&quot;:82.5,&quot;left&quot;:66,&quot;top&quot;:301.5,&quot;width&quot;:900}"/>
</p:tagLst>
</file>

<file path=ppt/tags/tag15.xml><?xml version="1.0" encoding="utf-8"?>
<p:tagLst xmlns:p="http://schemas.openxmlformats.org/presentationml/2006/main">
  <p:tag name="KSO_WM_DIAGRAM_VIRTUALLY_FRAME" val="{&quot;height&quot;:82.5,&quot;left&quot;:66,&quot;top&quot;:301.5,&quot;width&quot;:900}"/>
</p:tagLst>
</file>

<file path=ppt/tags/tag16.xml><?xml version="1.0" encoding="utf-8"?>
<p:tagLst xmlns:p="http://schemas.openxmlformats.org/presentationml/2006/main">
  <p:tag name="KSO_WM_DIAGRAM_VIRTUALLY_FRAME" val="{&quot;height&quot;:82.5,&quot;left&quot;:66,&quot;top&quot;:301.5,&quot;width&quot;:900}"/>
</p:tagLst>
</file>

<file path=ppt/tags/tag17.xml><?xml version="1.0" encoding="utf-8"?>
<p:tagLst xmlns:p="http://schemas.openxmlformats.org/presentationml/2006/main">
  <p:tag name="KSO_WM_DIAGRAM_VIRTUALLY_FRAME" val="{&quot;height&quot;:82.5,&quot;left&quot;:66,&quot;top&quot;:301.5,&quot;width&quot;:900}"/>
</p:tagLst>
</file>

<file path=ppt/tags/tag18.xml><?xml version="1.0" encoding="utf-8"?>
<p:tagLst xmlns:p="http://schemas.openxmlformats.org/presentationml/2006/main">
  <p:tag name="KSO_WM_DIAGRAM_VIRTUALLY_FRAME" val="{&quot;height&quot;:82.5,&quot;left&quot;:66,&quot;top&quot;:301.5,&quot;width&quot;:900}"/>
</p:tagLst>
</file>

<file path=ppt/tags/tag19.xml><?xml version="1.0" encoding="utf-8"?>
<p:tagLst xmlns:p="http://schemas.openxmlformats.org/presentationml/2006/main">
  <p:tag name="KSO_WM_DIAGRAM_VIRTUALLY_FRAME" val="{&quot;height&quot;:82.5,&quot;left&quot;:66,&quot;top&quot;:301.5,&quot;width&quot;:900}"/>
</p:tagLst>
</file>

<file path=ppt/tags/tag20.xml><?xml version="1.0" encoding="utf-8"?>
<p:tagLst xmlns:p="http://schemas.openxmlformats.org/presentationml/2006/main">
  <p:tag name="KSO_WM_DIAGRAM_VIRTUALLY_FRAME" val="{&quot;height&quot;:82.5,&quot;left&quot;:66,&quot;top&quot;:301.5,&quot;width&quot;:900}"/>
</p:tagLst>
</file>

<file path=ppt/tags/tag21.xml><?xml version="1.0" encoding="utf-8"?>
<p:tagLst xmlns:p="http://schemas.openxmlformats.org/presentationml/2006/main">
  <p:tag name="KSO_WM_DIAGRAM_VIRTUALLY_FRAME" val="{&quot;height&quot;:82.5,&quot;left&quot;:66,&quot;top&quot;:301.5,&quot;width&quot;:900}"/>
</p:tagLst>
</file>

<file path=ppt/tags/tag22.xml><?xml version="1.0" encoding="utf-8"?>
<p:tagLst xmlns:p="http://schemas.openxmlformats.org/presentationml/2006/main">
  <p:tag name="KSO_WM_DIAGRAM_VIRTUALLY_FRAME" val="{&quot;height&quot;:82.5,&quot;left&quot;:66,&quot;top&quot;:301.5,&quot;width&quot;:900}"/>
</p:tagLst>
</file>

<file path=ppt/tags/tag23.xml><?xml version="1.0" encoding="utf-8"?>
<p:tagLst xmlns:p="http://schemas.openxmlformats.org/presentationml/2006/main">
  <p:tag name="KSO_WM_DIAGRAM_VIRTUALLY_FRAME" val="{&quot;height&quot;:82.5,&quot;left&quot;:66,&quot;top&quot;:301.5,&quot;width&quot;:900}"/>
</p:tagLst>
</file>

<file path=ppt/tags/tag24.xml><?xml version="1.0" encoding="utf-8"?>
<p:tagLst xmlns:p="http://schemas.openxmlformats.org/presentationml/2006/main">
  <p:tag name="KSO_WM_DIAGRAM_VIRTUALLY_FRAME" val="{&quot;height&quot;:82.5,&quot;left&quot;:66,&quot;top&quot;:301.5,&quot;width&quot;:900}"/>
</p:tagLst>
</file>

<file path=ppt/tags/tag25.xml><?xml version="1.0" encoding="utf-8"?>
<p:tagLst xmlns:p="http://schemas.openxmlformats.org/presentationml/2006/main">
  <p:tag name="KSO_WM_DIAGRAM_VIRTUALLY_FRAME" val="{&quot;height&quot;:82.5,&quot;left&quot;:66,&quot;top&quot;:301.5,&quot;width&quot;:900}"/>
</p:tagLst>
</file>

<file path=ppt/tags/tag26.xml><?xml version="1.0" encoding="utf-8"?>
<p:tagLst xmlns:p="http://schemas.openxmlformats.org/presentationml/2006/main">
  <p:tag name="KSO_WM_DIAGRAM_VIRTUALLY_FRAME" val="{&quot;height&quot;:82.5,&quot;left&quot;:66,&quot;top&quot;:301.5,&quot;width&quot;:900}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1820</Words>
  <Application>WPS 演示</Application>
  <PresentationFormat>Converted Presentation</PresentationFormat>
  <Paragraphs>202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5" baseType="lpstr">
      <vt:lpstr>Arial</vt:lpstr>
      <vt:lpstr>宋体</vt:lpstr>
      <vt:lpstr>Wingdings</vt:lpstr>
      <vt:lpstr>Calibri</vt:lpstr>
      <vt:lpstr>微软雅黑</vt:lpstr>
      <vt:lpstr>Arial Unicode MS</vt:lpstr>
      <vt:lpstr>汉仪颜楷简</vt:lpstr>
      <vt:lpstr>方正公文小标宋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纪文龙(2024012842)</cp:lastModifiedBy>
  <cp:revision>5</cp:revision>
  <dcterms:created xsi:type="dcterms:W3CDTF">2026-06-23T02:17:18Z</dcterms:created>
  <dcterms:modified xsi:type="dcterms:W3CDTF">2026-06-23T05:57:04Z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88304F69474A4C9F9D9B55167F67C787_12</vt:lpwstr>
  </property>
  <property fmtid="{D5CDD505-2E9C-101B-9397-08002B2CF9AE}" pid="3" name="KSOProductBuildVer">
    <vt:lpwstr>2052-12.1.0.23542</vt:lpwstr>
  </property>
</Properties>
</file>