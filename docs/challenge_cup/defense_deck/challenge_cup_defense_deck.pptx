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9704cbbab94f86" /><Relationship Type="http://schemas.openxmlformats.org/officeDocument/2006/relationships/extended-properties" Target="/docProps/app.xml" Id="Rae98fb8b82454b29" /><Relationship Type="http://schemas.openxmlformats.org/officeDocument/2006/relationships/officeDocument" Target="/ppt/presentation.xml" Id="R17162d425f0a40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17306c11a4561"/>
  </p:sldMasterIdLst>
  <p:notesMasterIdLst>
    <p:notesMasterId xmlns:r="http://schemas.openxmlformats.org/officeDocument/2006/relationships" r:id="Re2b7d58fd83441b8"/>
  </p:notesMasterIdLst>
  <p:sldIdLst>
    <p:sldId xmlns:r="http://schemas.openxmlformats.org/officeDocument/2006/relationships" id="256" r:id="R95ad4c46cfa3458f"/>
    <p:sldId xmlns:r="http://schemas.openxmlformats.org/officeDocument/2006/relationships" id="257" r:id="R8dd73c881d544994"/>
    <p:sldId xmlns:r="http://schemas.openxmlformats.org/officeDocument/2006/relationships" id="258" r:id="R106c75a33b1040d0"/>
    <p:sldId xmlns:r="http://schemas.openxmlformats.org/officeDocument/2006/relationships" id="259" r:id="R8959f1b694884842"/>
    <p:sldId xmlns:r="http://schemas.openxmlformats.org/officeDocument/2006/relationships" id="260" r:id="R2ddca0af3ebe4e3c"/>
    <p:sldId xmlns:r="http://schemas.openxmlformats.org/officeDocument/2006/relationships" id="261" r:id="R2c8c2fe1316d4e27"/>
    <p:sldId xmlns:r="http://schemas.openxmlformats.org/officeDocument/2006/relationships" id="262" r:id="Rfeab32768c1d4361"/>
    <p:sldId xmlns:r="http://schemas.openxmlformats.org/officeDocument/2006/relationships" id="263" r:id="R51b4f1967587424d"/>
    <p:sldId xmlns:r="http://schemas.openxmlformats.org/officeDocument/2006/relationships" id="264" r:id="Rc55c42e6e4764c26"/>
    <p:sldId xmlns:r="http://schemas.openxmlformats.org/officeDocument/2006/relationships" id="265" r:id="R3f7f11b3d0c447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60952289f242ca" /><Relationship Type="http://schemas.openxmlformats.org/officeDocument/2006/relationships/slideMaster" Target="/ppt/slideMasters/slideMaster1.xml" Id="R22e17306c11a4561" /><Relationship Type="http://schemas.openxmlformats.org/officeDocument/2006/relationships/notesMaster" Target="/ppt/notesMasters/notesMaster1.xml" Id="Re2b7d58fd83441b8" /><Relationship Type="http://schemas.openxmlformats.org/officeDocument/2006/relationships/presProps" Target="/ppt/presProps.xml" Id="Refdb7dbc6a5b4a58" /><Relationship Type="http://schemas.openxmlformats.org/officeDocument/2006/relationships/viewProps" Target="/ppt/viewProps.xml" Id="R8169d4a3db39487e" /><Relationship Type="http://schemas.openxmlformats.org/officeDocument/2006/relationships/tableStyles" Target="/ppt/tableStyles.xml" Id="R551a19531a3c4048" /><Relationship Type="http://schemas.openxmlformats.org/officeDocument/2006/relationships/slide" Target="/ppt/slides/slide1.xml" Id="R95ad4c46cfa3458f" /><Relationship Type="http://schemas.openxmlformats.org/officeDocument/2006/relationships/slide" Target="/ppt/slides/slide2.xml" Id="R8dd73c881d544994" /><Relationship Type="http://schemas.openxmlformats.org/officeDocument/2006/relationships/slide" Target="/ppt/slides/slide3.xml" Id="R106c75a33b1040d0" /><Relationship Type="http://schemas.openxmlformats.org/officeDocument/2006/relationships/slide" Target="/ppt/slides/slide4.xml" Id="R8959f1b694884842" /><Relationship Type="http://schemas.openxmlformats.org/officeDocument/2006/relationships/slide" Target="/ppt/slides/slide5.xml" Id="R2ddca0af3ebe4e3c" /><Relationship Type="http://schemas.openxmlformats.org/officeDocument/2006/relationships/slide" Target="/ppt/slides/slide6.xml" Id="R2c8c2fe1316d4e27" /><Relationship Type="http://schemas.openxmlformats.org/officeDocument/2006/relationships/slide" Target="/ppt/slides/slide7.xml" Id="Rfeab32768c1d4361" /><Relationship Type="http://schemas.openxmlformats.org/officeDocument/2006/relationships/slide" Target="/ppt/slides/slide8.xml" Id="R51b4f1967587424d" /><Relationship Type="http://schemas.openxmlformats.org/officeDocument/2006/relationships/slide" Target="/ppt/slides/slide9.xml" Id="Rc55c42e6e4764c26" /><Relationship Type="http://schemas.openxmlformats.org/officeDocument/2006/relationships/slide" Target="/ppt/slides/slide10.xml" Id="R3f7f11b3d0c4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e747f25d8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03eb330074af0" /><Relationship Type="http://schemas.openxmlformats.org/officeDocument/2006/relationships/notesMaster" Target="/ppt/notesMasters/notesMaster1.xml" Id="Rc6b9d37edf74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a843253def4ea7" /><Relationship Type="http://schemas.openxmlformats.org/officeDocument/2006/relationships/notesMaster" Target="/ppt/notesMasters/notesMaster1.xml" Id="R88ba28b7e12a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681712b1b4d7e" /><Relationship Type="http://schemas.openxmlformats.org/officeDocument/2006/relationships/notesMaster" Target="/ppt/notesMasters/notesMaster1.xml" Id="Rce9ae034baa4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77587bbb924545" /><Relationship Type="http://schemas.openxmlformats.org/officeDocument/2006/relationships/notesMaster" Target="/ppt/notesMasters/notesMaster1.xml" Id="R765ea319b31e4e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98abab40804e17" /><Relationship Type="http://schemas.openxmlformats.org/officeDocument/2006/relationships/notesMaster" Target="/ppt/notesMasters/notesMaster1.xml" Id="R7c3f780bc72d49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b1f15cf8540ac" /><Relationship Type="http://schemas.openxmlformats.org/officeDocument/2006/relationships/notesMaster" Target="/ppt/notesMasters/notesMaster1.xml" Id="R8493a2c1da4246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7f78ded6ca4107" /><Relationship Type="http://schemas.openxmlformats.org/officeDocument/2006/relationships/notesMaster" Target="/ppt/notesMasters/notesMaster1.xml" Id="Rb58121568321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baa51bc05b4706" /><Relationship Type="http://schemas.openxmlformats.org/officeDocument/2006/relationships/notesMaster" Target="/ppt/notesMasters/notesMaster1.xml" Id="R2261b666ebce46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1a3d4e136e47dc" /><Relationship Type="http://schemas.openxmlformats.org/officeDocument/2006/relationships/notesMaster" Target="/ppt/notesMasters/notesMaster1.xml" Id="R961a1c8d5e89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2f745928c47ae" /><Relationship Type="http://schemas.openxmlformats.org/officeDocument/2006/relationships/notesMaster" Target="/ppt/notesMasters/notesMaster1.xml" Id="Rad411e6e0cc844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4fef34f864e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7abb2394347b0" /><Relationship Type="http://schemas.openxmlformats.org/officeDocument/2006/relationships/slideLayout" Target="/ppt/slideLayouts/slideLayout1.xml" Id="R4e6d26af2d6e4f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d26af2d6e4f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9dd1c5e2b40bf" /><Relationship Type="http://schemas.openxmlformats.org/officeDocument/2006/relationships/notesSlide" Target="/ppt/notesSlides/notesSlide1.xml" Id="R4f31eca334264d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dbc962f314e6b" /><Relationship Type="http://schemas.openxmlformats.org/officeDocument/2006/relationships/notesSlide" Target="/ppt/notesSlides/notesSlide2.xml" Id="Rdc57c7679b3f47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68fa732ed488f" /><Relationship Type="http://schemas.openxmlformats.org/officeDocument/2006/relationships/notesSlide" Target="/ppt/notesSlides/notesSlide3.xml" Id="R327fcf16a1fc41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0e441253f4bef" /><Relationship Type="http://schemas.openxmlformats.org/officeDocument/2006/relationships/notesSlide" Target="/ppt/notesSlides/notesSlide4.xml" Id="Ref70e377cc76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c2467307e4bde" /><Relationship Type="http://schemas.openxmlformats.org/officeDocument/2006/relationships/image" Target="/ppt/media/image.png" Id="R1c72521819c642fa" /><Relationship Type="http://schemas.openxmlformats.org/officeDocument/2006/relationships/notesSlide" Target="/ppt/notesSlides/notesSlide5.xml" Id="R8818f21ae96c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f0e6e7c4c4ec4" /><Relationship Type="http://schemas.openxmlformats.org/officeDocument/2006/relationships/image" Target="/ppt/media/image2.png" Id="R71961783c8fe467a" /><Relationship Type="http://schemas.openxmlformats.org/officeDocument/2006/relationships/notesSlide" Target="/ppt/notesSlides/notesSlide6.xml" Id="R46f88e58a73c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70a24933f4d72" /><Relationship Type="http://schemas.openxmlformats.org/officeDocument/2006/relationships/notesSlide" Target="/ppt/notesSlides/notesSlide7.xml" Id="R48524a0c91b54e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a617f5715417d" /><Relationship Type="http://schemas.openxmlformats.org/officeDocument/2006/relationships/notesSlide" Target="/ppt/notesSlides/notesSlide8.xml" Id="R1ed2809272574b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f3377f75440fc" /><Relationship Type="http://schemas.openxmlformats.org/officeDocument/2006/relationships/notesSlide" Target="/ppt/notesSlides/notesSlide9.xml" Id="R143768076d43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3d64743cc4991" /><Relationship Type="http://schemas.openxmlformats.org/officeDocument/2006/relationships/notesSlide" Target="/ppt/notesSlides/notesSlide10.xml" Id="Rf7e55abfeb404e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D14A8-F668-4307-BF9D-1C578FC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22477-AD2C-4DD2-BAC1-0A7EED4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D6E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D6E2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461DB-DFF1-4CCB-B2C6-6B10C151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知燃知维：面向动力装备运维知识的可信 GraphRAG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5BF31-79E9-4A8B-BD8C-49685D63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9D6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C9D6E7"/>
                </a:solidFill>
                <a:latin typeface="Microsoft YaHei"/>
                <a:ea typeface="Microsoft YaHei"/>
                <a:cs typeface="Microsoft YaHei"/>
              </a:rPr>
              <a:t>目标不是展示一个问答页，而是交付可结项、可复核、可答辩的证据型知识工程项目。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11111-1EBF-42DD-BED8-A47A025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0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1287C-4B8C-4EC7-927E-43EF22A0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C56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5C56B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8EF7D-869D-4C65-B204-47A330E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系统评测问题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481D8-ACFE-41B9-8E24-56DC8567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050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D6E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76D6E2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D5F83-FCA0-4484-9D97-B8E831E0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任务类型覆盖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0C34-4A72-47D8-8869-92D03AA5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E3B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A9E3BF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DE4DF-596C-4382-B75B-007516FF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资料范围覆盖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39EE0-E8A3-4FDD-BAAA-725789A7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050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2E9E1-332B-46A5-82F0-0CF9A7F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86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归档包文件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5143F-C422-4AF5-A27C-057ACD3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A6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2A6A6"/>
                </a:solidFill>
                <a:latin typeface="Aptos Display"/>
                <a:ea typeface="Aptos Display"/>
                <a:cs typeface="Aptos Display"/>
              </a:rPr>
              <a:t>GT-07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B6AD8-5EAB-4D07-ADFD-E0C1C69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固定演示场景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A978-F7F5-4B35-9FDC-A03705AB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C7E00-ABFF-4292-B85F-CD014275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评审主线：真实资料处理 + RAG/GraphRAG + 自动评测 + 可复现门禁 + 清晰边界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48266-560D-4EFD-824D-98505797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230FA-9379-408F-97EC-AD814EA0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现场策略：先证明完成度，再用 GT-07 异常振动场景展示应用价值。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A68C2-391C-4048-A801-74C99F3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FE800-5ADE-48E7-B0B8-1B35C304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诚信边界：专家反馈与真实彩排未归档前，不把准备材料说成外部背书。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EB92F3-9387-45B1-A426-AFE0334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76275-DC5B-4D71-A79A-BA51A6EB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7544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1B3270-5CE6-4F5E-8B14-EA3FC23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0DF11-6976-4032-B508-F4938870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BC34F-7347-4ACC-869A-D3F6A7EA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动力装备资料难点不在问答，而在证据链能否被追溯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3DBA-DDDB-4826-8BBB-D6E7FAE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扫描件、术语、部件关系和维修流程混在一起，普通检索容易回答但难以解释。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337E7-A3C6-4635-BB00-BB1A7A0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7B171-7659-4B92-AC65-20A8CE70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BA536-ACBA-4974-B6D6-7E2C01DA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真实痛点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21699-6FCD-4CB4-8472-70144F1F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800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资料分散、扫描件多、术语密集；评委最关心系统是否能稳定定位证据，而不是一句流畅回答。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C667B-5C78-4D77-816A-444182C5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5956C-4071-424C-A8A6-163EA5E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52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方法创新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D9A79-0476-42F8-BA78-0D2D0D2D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2800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把 OCR、chunk、RAG、知识图谱、GraphRAG 子集和人工补证串成 evidence-bound 工作流。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BB2C9-E240-4482-A976-CDE405F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F496C-266E-46D5-841F-A73B3C8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D59"/>
                </a:solidFill>
                <a:latin typeface="Microsoft YaHei"/>
                <a:ea typeface="Microsoft YaHei"/>
                <a:cs typeface="Microsoft YaHei"/>
              </a:rPr>
              <a:t>结项价值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4E93D-076F-409F-9F82-F7CA8525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800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材料包、readiness gate、submission archive 和固定演示场景让项目能被验收，而不是只能口头展示。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CB3FD-6196-4BED-9269-2DB1967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933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E0C0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A9547-F922-4DC3-87FA-7FFB65DF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899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一句话答辩：我们做的是“证据型辅助和知识资产整理”，不是替代工程师做高风险维修决策。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22498-565B-453E-8CC6-ED12EB5F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58C45-E415-47CE-9244-1981B82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0296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949AA-888E-4A1C-A9C4-9D94CC7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ED23E-A767-4A04-A24B-D2F615F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17F11-91E6-423C-90C1-AB92650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工程闭环覆盖资料导入、检索增强、图谱证据和评测门禁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462D8-6BCA-43AE-9FAF-57A98F71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这页回答“项目完成度是否只是前端包装”的问题。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BF4C-5247-47A1-8134-7C9A4C32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0932C-4033-4006-905F-A99A66A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7FFDE-BAFE-488C-A634-DB4F440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扫描资料结构化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15D02-C543-4444-AE86-AB2EFFB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193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CEBC4-5E98-4532-B6E1-01389116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文本证据召回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DCCC3-2922-4069-9909-48A0FE4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193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69FC7-B3CA-4CB7-943B-1E8E5C6E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关系证据组织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049CA-FE82-4B52-ACA9-896B86A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193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989F6-A497-4973-8363-41C6B37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0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机器验收门禁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06959-260A-4974-98B9-ADCDB9DE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692F4-5F91-49A0-92B0-12354D8D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资料层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A0A19-DA8D-437F-A6C2-F1866702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课程资料、维修案例、JSON 问答和浏览器演示快照。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490DC-22B8-4663-803F-B7F56210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C723C-2098-4AC0-93E9-04BD51D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290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检索层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7331B-F7F3-4C3C-A8E1-DBA689C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90975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keyword / hybrid / GraphRAG context，对同题子集做证据覆盖审计。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CFCF4-A083-4F7A-9002-6DFD911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63D72-13D2-4AFD-B46E-2C4BEDE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评测层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886DE-7709-40F5-B07D-36C0C6A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60 题评测集、baseline、失败归因、manual evidence supplement。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77BF4-C3D1-4F05-8B05-19C28EE9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766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47E74-C722-4F7E-985D-0661AA0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29025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交付层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D604F-AC69-466C-99D5-811938F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90975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README、项目书、答辩材料、归档包、readiness gate。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FED1D-D2ED-4C62-8E60-34E1226B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24E43-8BE2-4415-A178-E6300DA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0957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76959-66D7-4CEE-9C19-81B9F80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D320-C269-4D50-B5B6-34CDD9A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659D8-62C2-4AD8-97B8-009D26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60 题评测集把“能演示”压实为“能复核”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FD4BB-C2E2-457C-ACB0-3332896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11 类任务、17 类资料范围、10 道 GraphRAG 标记问题。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B2A7-A5AB-46EA-ACE7-6F38E07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E6B34-E157-467D-BAE1-3C88A8E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C5C5B-66D2-466D-BB2B-453B896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评测题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AF927-2CA0-4312-85BB-7C8C1157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0AD07-9E50-4D05-8526-C235E2CD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task_type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F98E9-5D5C-489E-98D4-7A3983E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1CB0B-6AC4-4F27-8B1A-718C362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source_scope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174D8-414D-40E7-BB6D-99DA4E08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2CADA-65BE-4C81-859D-D8C46D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GraphRAG 子集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84917-7DE1-467A-AA4D-9B74CB4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33F6B-5819-4382-A063-0094B3A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剩余补证任务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32741-F835-440C-AE8E-46D7E2B6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A7022-6065-4112-84BE-F1618FF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每题包含标准答案、证据关键词、任务类型、资料范围和评分说明。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3F35A-4B75-464D-A970-CDA9951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3CFF2-2888-40CA-90F1-84AF883C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GraphRAG 子集当前本地证据状态为 supported=10, partial=0, missing=0。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F9796-962C-44E2-9D4A-F1866E2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7E4F1-F145-4542-9B05-E2AFD6E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边界：本地证据覆盖不等于在线 LLM 胜率，也不等于外部专家认可。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A1A42-8E2E-4D88-8C0E-1A95CA9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BA582-8575-416A-AF63-6B32E88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98961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5640B-4CA9-4BAA-9F26-176C0A9A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05243-F854-4AFB-B1F4-416155CA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D2A19-0450-4C80-ABEA-893D6C7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固定应用场景：GT-07 燃气轮机异常振动诊断流程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7FC0-FE46-4745-8212-C9AD920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用真实浏览器烟测截图证明现场演示不是口头描述。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1024B-2AED-4416-8E28-0F0A639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1713-77C0-4A0A-A462-B570709F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466B3-F87B-42FE-9030-9887F811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固定查询：燃气轮机异常振动诊断流程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68DCA-1BFD-4121-96DA-8503F9B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8E8CF-ED69-40DC-900C-1090108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浏览器可见记录数：5；集合 gas_turbine_ocr_demo_snapshot · 延迟 41.80 ms · 结果 5 · 后端 public-demo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ADC86-6CC0-434E-8010-8A91EA4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4E33-3BBC-42B6-8FF7-54879E5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证据链覆盖阈值、叶片、滤网、传感器、检修和人工确认边界。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7F45A-1D98-4CBE-8F24-AC2D837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2C0A5-795C-4252-A7EA-7F5D1D6F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高风险维修仍需人工确认；系统定位为证据型辅助。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28D02-1FBF-4216-9213-90EECF6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51054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2521819c642fa"/>
          <a:stretch xmlns:a="http://schemas.openxmlformats.org/drawingml/2006/main"/>
        </p:blipFill>
        <p:spPr>
          <a:xfrm xmlns:a="http://schemas.openxmlformats.org/drawingml/2006/main">
            <a:off x="6061364" y="1866900"/>
            <a:ext cx="4488873" cy="3429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19F2A-D07F-4F0B-96F0-6A8D2AD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958B2-3FD2-4007-B81D-05CBDFC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10892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9CD2A-1810-437A-92BC-E3D30938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1489-26C6-48E5-BE55-1588E8F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GRAPHRAG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E5285-9AD5-4EF4-A329-B3BC01C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GraphRAG 价值不靠泛化承诺，而靠关系证据可视化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0C4F7-3483-48AF-8A01-1403F735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答辩时只主张固定子集证据覆盖，不宣称所有问题全面优于 baseline。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C747E-425A-4839-AF79-0C1D333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A335D-09B9-457B-8549-5D7528AF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E7C35-B07D-459C-BF72-E15B56FE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GraphRAG 用于部件、故障、检查项和处理措施之间的关系解释。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042DD-C6F5-4C13-A5CB-E2BE4952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EBB63-1E8B-4C2E-8605-3DCBEFC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manual evidence supplement 已关闭 P0 missing 与 relation schema gap。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80E12-8E56-4B53-9B90-0664CEDD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55047-EA1E-4975-A907-2BD9004A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可指向报告：evaluation/reports/challenge_cup_graphrag_same_question_report.md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23DEE-25DA-4BB7-A03F-62E72DC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14500"/>
            <a:ext cx="51054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61783c8fe467a"/>
          <a:stretch xmlns:a="http://schemas.openxmlformats.org/drawingml/2006/main"/>
        </p:blipFill>
        <p:spPr>
          <a:xfrm xmlns:a="http://schemas.openxmlformats.org/drawingml/2006/main">
            <a:off x="6135312" y="1790700"/>
            <a:ext cx="4588625" cy="3505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9E3F7-525C-4D20-9D9E-F7C78BE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714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9DB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CAA79-D383-414C-A6FC-053292B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4371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关键答法：GraphRAG 是关系证据组织能力，不是“所有题都一定赢”的口号。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5DD69-E8EC-43E4-BB2C-2D2A0CB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1D969-D148-4E6C-8C31-4E908EA3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01843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902A0-93EE-4DE3-9632-0088FAFF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B2AC-4462-4AA1-A323-90D9F96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SUBMISSION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DD3F9-AB12-4D89-BB20-670AF8F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结项提交不是散文件：已形成归档包、哈希和机器门禁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8367E-F2D9-4871-A311-989E7294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readiness gate 已纳入材料、证据、归档和答辩门禁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E7D02-CFB8-4827-9FBB-1420677E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45C8-4A08-46AD-A3DD-95D7DB04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8620D-CCA2-4EA8-8933-274CCAE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归档文件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D4FF8-FD82-4A8C-ABBB-F65861B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rPr>
              <a:t>1405KB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39A0-19EC-4461-A78D-1F2B719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zip 大小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08B8A-5478-43BD-B6E7-FF5D3EC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7082C-82F1-4284-AC0A-3849591D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完整性校验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AB26E-DEB5-49F5-93AA-CAEBE30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README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630B5-6880-4BC8-8B4B-8D1B2169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评审入口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39DB8-5999-4EF3-A406-135D95E0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02A8C-3547-4F17-908D-DB5C96F9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package_manifest.json 记录证据文件、评测覆盖画像和归档清单。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AFC50-63B5-4DC0-8DF4-5DB05C1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71BEB-E6B6-4DA4-A10F-B795AE2E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evidence_hashes.json 与 submission archive manifest 支撑复核。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7D11A-948F-4545-B61C-4C9B79C0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78EB1-FF25-498F-99F2-B0824F5B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readiness gate 覆盖材料、评测、浏览器烟测、GraphRAG、答辩和归档。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8C742-3D58-4330-A608-A773CBC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234F6-BB2C-4F19-8429-C9BB258C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71571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2EC75-4684-4ED5-99A9-5F4C30E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33B18-DE76-458B-A2EC-275C18A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SPECIAL PRIZE 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0DDE3-FA5E-4AD2-8B92-3E11A58E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特等奖争取点：创新性、完成度、可复现和边界严谨同时成立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C57D-237A-45E8-990A-EBC42B4E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这页用于回答“为什么不只是一个普通 RAG demo”。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5CC74-8019-404E-8DB6-A2C33B6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7F162-A2FF-4396-8905-90E7C06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01A8-F3DB-43A9-8F27-3C4B864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2CE80-6739-41F0-A282-4582C6C7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Evidence-bound RAG + GraphRAG 子集 + 失败归因 + 补证闭环。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A0813-7852-41B6-B55C-D859344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32ADF-C425-4BEC-B641-D123812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完成度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565AB-7D9A-4446-8983-D7EDAD30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项目书、白皮书、验收清单、固定演示、归档包和门禁报告齐备。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E5AC5-6940-4F73-B957-C043FFBB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A9EDD-F328-4661-A619-BB2B3A42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9BFC4-DE80-4730-A580-80DC87F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60 题评测集、baseline、smoke、hashes、readiness gate 可重新运行。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4A829-6D08-45A0-B88A-E617CC72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0A4C9-84D6-4471-B0AB-AEF0A7C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CB212-D106-4D70-891A-D6997050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14600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不夸大生产替代、不伪造专家反馈、不把 gate 说成获奖保证。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7FCF1-3F51-41A8-B22A-90BD0B1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054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E0C0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99236-0555-4F84-892C-DC1C55B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257800"/>
            <a:ext cx="946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现场表达策略：主动展示失败案例和边界，比回避问题更能体现科学性和工程可信度。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2641A-C66B-46DF-9097-02FDB3DC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5B595-1C46-4C71-BCF9-C2573D65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95812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2D60D-2D82-46F4-B75A-DFAF22F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5452C-5B7B-48CE-AED2-ACE19AE5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FB0B1-395D-447F-A0DC-F83711F5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专家反馈与彩排是最后硬证据：已准备采集，不伪造结果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2320-B06B-48B7-9E98-00F6679F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当前状态是 ready-to-send / ready-to-record，而不是已获得专家背书。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9FCED-AD13-47E9-B9E8-FE055BB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37067-BDC3-4198-B273-2D45910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28192-0C75-4518-8C56-20E989A8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73A06-0BD9-412C-8034-0E018F11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419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外发包、反馈表、归档类型和整改闭环已准备；收到真实签字、邮件、会议纪要或聊天记录后再更新。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6B1E8-9B73-4AEF-AE74-CAF1881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82487-5C1C-451B-ACE2-835D448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真实彩排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C4E70-FCA5-4871-8619-E32C7DA7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4419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90 秒开场、3 分钟演示、20 秒离线切换和杀手问题均有计分卡；真实计时完成前不宣称通过。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45712-DFE8-484D-86DD-BC565FD7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0D488-095D-4E41-AEC8-632DC33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7A6"/>
                </a:solidFill>
                <a:latin typeface="Microsoft YaHei"/>
                <a:ea typeface="Microsoft YaHei"/>
                <a:cs typeface="Microsoft YaHei"/>
              </a:rPr>
              <a:t>必须补的外部证据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4AFDE-25E9-47AC-A987-313EDD70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441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至少 1 份外部/导师反馈原件 + 1 次真实计时彩排记录 + 现场问答遗漏清单。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9DC6C-36C8-4343-BB04-4A5AD39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CC546-9D0E-45A5-A86A-6053033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441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54747"/>
                </a:solidFill>
                <a:latin typeface="Microsoft YaHei"/>
                <a:ea typeface="Microsoft YaHei"/>
                <a:cs typeface="Microsoft YaHei"/>
              </a:rPr>
              <a:t>补完后的动作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71C90-BDBB-4E5B-903C-683BE72D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41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更新反馈闭环与彩排结果包，重新生成 package、submission archive 和 readiness gate。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5C2C7-0459-438D-9D1E-22BDE23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992CB-6412-4DBD-8832-D88CE86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43498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328A4-A7DB-4C87-A116-E2C54FF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E3E19-501D-4C44-B91A-AF97BCC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99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99A5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B224E-6FC3-47A3-99A6-1445602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90 秒讲清项目，3 分钟证明它能被复核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62D0A-DC42-4B6E-9931-76F42AFC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终审答辩只保留一条主线：问题、方法、证据、边界、下一步。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366A-5577-49E7-A89A-F22867D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484AF-19DA-43A4-A553-3152F78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90s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4DEF8-F2A7-412A-A794-86AED7A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开场定位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6A437-8A3E-44AE-855B-88B5B30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499A5"/>
                </a:solidFill>
                <a:latin typeface="Aptos Display"/>
                <a:ea typeface="Aptos Display"/>
                <a:cs typeface="Aptos Display"/>
              </a:rPr>
              <a:t>180s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255A0-6466-4E83-8C45-D6E79D5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固定演示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D864E-F102-4156-8E9E-BA9D6BB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F7D59"/>
                </a:solidFill>
                <a:latin typeface="Aptos Display"/>
                <a:ea typeface="Aptos Display"/>
                <a:cs typeface="Aptos Display"/>
              </a:rPr>
              <a:t>20s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4237A-CB5E-4031-9412-6A143B6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离线切换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CE4F7-B899-40A2-A4DC-A734D069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30s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06863-0045-4E37-A4F0-3B2B906C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杀手问题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53681-CC26-4EB5-9BF1-C93D563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54747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59FEB-523F-4F84-921E-61618960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夸大承诺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AD5B9-7483-4838-8A48-E5E1C4EF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70A4F-A8C7-47B5-A86E-40AE81DB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结论：项目已经从 RAG 页面升级为可结项、可审计、可答辩的知识工程系统。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8810A-B494-42C4-9FBC-7653D0C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03D3C-F435-4814-B354-481E9628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特等奖冲刺仍需真实专家反馈和真实彩排证据；这两项不能用内部材料替代。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0E9F4-12C2-49FD-9992-0DCFAA96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9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08D8B-960E-49CC-8371-A8EEF91A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52033"/>
                </a:solidFill>
                <a:latin typeface="Microsoft YaHei"/>
                <a:ea typeface="Microsoft YaHei"/>
                <a:cs typeface="Microsoft YaHei"/>
              </a:rPr>
              <a:t>最终动作：带着 submission archive、PPT、讲稿和 readiness report 进入现场。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B5D47-855F-4196-B09F-4E9D9186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知燃知维 · Challenge Cup defense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745EE-2197-4E63-B44B-35ED93BA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919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2026-06-05T19:31:23.2000000Z</dcterms:created>
  <dcterms:modified xsi:type="dcterms:W3CDTF">2026-06-05T19:31:23.2000000Z</dcterms:modified>
</coreProperties>
</file>