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c1350ce75f449cf" /><Relationship Type="http://schemas.openxmlformats.org/officeDocument/2006/relationships/extended-properties" Target="/docProps/app.xml" Id="R43d1c6b97de14500" /><Relationship Type="http://schemas.openxmlformats.org/officeDocument/2006/relationships/officeDocument" Target="/ppt/presentation.xml" Id="R5a161f3896c3440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e22353450841eb"/>
  </p:sldMasterIdLst>
  <p:notesMasterIdLst>
    <p:notesMasterId xmlns:r="http://schemas.openxmlformats.org/officeDocument/2006/relationships" r:id="R9b94fee5a8c24ea9"/>
  </p:notesMasterIdLst>
  <p:sldIdLst>
    <p:sldId xmlns:r="http://schemas.openxmlformats.org/officeDocument/2006/relationships" id="256" r:id="Re35704fc4e0c44eb"/>
    <p:sldId xmlns:r="http://schemas.openxmlformats.org/officeDocument/2006/relationships" id="257" r:id="Rd64da5ce722c40d1"/>
    <p:sldId xmlns:r="http://schemas.openxmlformats.org/officeDocument/2006/relationships" id="258" r:id="R782adcfecb824a3d"/>
    <p:sldId xmlns:r="http://schemas.openxmlformats.org/officeDocument/2006/relationships" id="259" r:id="R678e1546f7d94984"/>
    <p:sldId xmlns:r="http://schemas.openxmlformats.org/officeDocument/2006/relationships" id="260" r:id="R4f685c30743446bd"/>
    <p:sldId xmlns:r="http://schemas.openxmlformats.org/officeDocument/2006/relationships" id="261" r:id="R270bcfc2e9dc4f5a"/>
    <p:sldId xmlns:r="http://schemas.openxmlformats.org/officeDocument/2006/relationships" id="262" r:id="R236fb267db1f44ed"/>
    <p:sldId xmlns:r="http://schemas.openxmlformats.org/officeDocument/2006/relationships" id="263" r:id="R7ab38f17403140e1"/>
    <p:sldId xmlns:r="http://schemas.openxmlformats.org/officeDocument/2006/relationships" id="264" r:id="R57e35b38a2ea4404"/>
    <p:sldId xmlns:r="http://schemas.openxmlformats.org/officeDocument/2006/relationships" id="265" r:id="R87358644abe145d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3a040a8ba54e0d" /><Relationship Type="http://schemas.openxmlformats.org/officeDocument/2006/relationships/slideMaster" Target="/ppt/slideMasters/slideMaster1.xml" Id="R6ce22353450841eb" /><Relationship Type="http://schemas.openxmlformats.org/officeDocument/2006/relationships/notesMaster" Target="/ppt/notesMasters/notesMaster1.xml" Id="R9b94fee5a8c24ea9" /><Relationship Type="http://schemas.openxmlformats.org/officeDocument/2006/relationships/presProps" Target="/ppt/presProps.xml" Id="R8a4ddebc91f440b2" /><Relationship Type="http://schemas.openxmlformats.org/officeDocument/2006/relationships/viewProps" Target="/ppt/viewProps.xml" Id="R9d5f8542dad8446e" /><Relationship Type="http://schemas.openxmlformats.org/officeDocument/2006/relationships/tableStyles" Target="/ppt/tableStyles.xml" Id="R1fc0054780384a0a" /><Relationship Type="http://schemas.openxmlformats.org/officeDocument/2006/relationships/slide" Target="/ppt/slides/slide1.xml" Id="Re35704fc4e0c44eb" /><Relationship Type="http://schemas.openxmlformats.org/officeDocument/2006/relationships/slide" Target="/ppt/slides/slide2.xml" Id="Rd64da5ce722c40d1" /><Relationship Type="http://schemas.openxmlformats.org/officeDocument/2006/relationships/slide" Target="/ppt/slides/slide3.xml" Id="R782adcfecb824a3d" /><Relationship Type="http://schemas.openxmlformats.org/officeDocument/2006/relationships/slide" Target="/ppt/slides/slide4.xml" Id="R678e1546f7d94984" /><Relationship Type="http://schemas.openxmlformats.org/officeDocument/2006/relationships/slide" Target="/ppt/slides/slide5.xml" Id="R4f685c30743446bd" /><Relationship Type="http://schemas.openxmlformats.org/officeDocument/2006/relationships/slide" Target="/ppt/slides/slide6.xml" Id="R270bcfc2e9dc4f5a" /><Relationship Type="http://schemas.openxmlformats.org/officeDocument/2006/relationships/slide" Target="/ppt/slides/slide7.xml" Id="R236fb267db1f44ed" /><Relationship Type="http://schemas.openxmlformats.org/officeDocument/2006/relationships/slide" Target="/ppt/slides/slide8.xml" Id="R7ab38f17403140e1" /><Relationship Type="http://schemas.openxmlformats.org/officeDocument/2006/relationships/slide" Target="/ppt/slides/slide9.xml" Id="R57e35b38a2ea4404" /><Relationship Type="http://schemas.openxmlformats.org/officeDocument/2006/relationships/slide" Target="/ppt/slides/slide10.xml" Id="R87358644abe145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3ea616996b4e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fce021ffe245b1" /><Relationship Type="http://schemas.openxmlformats.org/officeDocument/2006/relationships/notesMaster" Target="/ppt/notesMasters/notesMaster1.xml" Id="Rf7a8b77c421749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f7b75a090d949bd" /><Relationship Type="http://schemas.openxmlformats.org/officeDocument/2006/relationships/notesMaster" Target="/ppt/notesMasters/notesMaster1.xml" Id="R9ac44e7237fc49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32ff260c0d4618" /><Relationship Type="http://schemas.openxmlformats.org/officeDocument/2006/relationships/notesMaster" Target="/ppt/notesMasters/notesMaster1.xml" Id="R5406f2579b744f6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e4f3bf728994446" /><Relationship Type="http://schemas.openxmlformats.org/officeDocument/2006/relationships/notesMaster" Target="/ppt/notesMasters/notesMaster1.xml" Id="Rdab554e2339a4f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2abfa135914e4a" /><Relationship Type="http://schemas.openxmlformats.org/officeDocument/2006/relationships/notesMaster" Target="/ppt/notesMasters/notesMaster1.xml" Id="Rc4f52b758f84455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8841f6a7aa14523" /><Relationship Type="http://schemas.openxmlformats.org/officeDocument/2006/relationships/notesMaster" Target="/ppt/notesMasters/notesMaster1.xml" Id="Racb4254875e440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05b2a85da8b4085" /><Relationship Type="http://schemas.openxmlformats.org/officeDocument/2006/relationships/notesMaster" Target="/ppt/notesMasters/notesMaster1.xml" Id="Ra4d74a234d9a43d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a6c0237263c4758" /><Relationship Type="http://schemas.openxmlformats.org/officeDocument/2006/relationships/notesMaster" Target="/ppt/notesMasters/notesMaster1.xml" Id="R5e1fb584aa4c4fc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685922fe87142c5" /><Relationship Type="http://schemas.openxmlformats.org/officeDocument/2006/relationships/notesMaster" Target="/ppt/notesMasters/notesMaster1.xml" Id="Ra7f4762a9d89435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f36bc66495d44ec" /><Relationship Type="http://schemas.openxmlformats.org/officeDocument/2006/relationships/notesMaster" Target="/ppt/notesMasters/notesMaster1.xml" Id="R804591266b6b46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e8ad7f749d463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1cfe9e307a407d" /><Relationship Type="http://schemas.openxmlformats.org/officeDocument/2006/relationships/slideLayout" Target="/ppt/slideLayouts/slideLayout1.xml" Id="R5038ddedea6b444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038ddedea6b444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7a22905f5d40dc" /><Relationship Type="http://schemas.openxmlformats.org/officeDocument/2006/relationships/notesSlide" Target="/ppt/notesSlides/notesSlide1.xml" Id="R0c790ce248b04b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02715df4d645c5" /><Relationship Type="http://schemas.openxmlformats.org/officeDocument/2006/relationships/notesSlide" Target="/ppt/notesSlides/notesSlide2.xml" Id="R6d5936329a784c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549fd9d8cb423a" /><Relationship Type="http://schemas.openxmlformats.org/officeDocument/2006/relationships/notesSlide" Target="/ppt/notesSlides/notesSlide3.xml" Id="R53d8a630b15041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cafad13b294d7c" /><Relationship Type="http://schemas.openxmlformats.org/officeDocument/2006/relationships/notesSlide" Target="/ppt/notesSlides/notesSlide4.xml" Id="R65976498afe24c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c3047ecbbe4196" /><Relationship Type="http://schemas.openxmlformats.org/officeDocument/2006/relationships/image" Target="/ppt/media/image.png" Id="Rcd46ef43d1a84a64" /><Relationship Type="http://schemas.openxmlformats.org/officeDocument/2006/relationships/notesSlide" Target="/ppt/notesSlides/notesSlide5.xml" Id="R217a350c0c0d4ba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621c4e591d4064" /><Relationship Type="http://schemas.openxmlformats.org/officeDocument/2006/relationships/image" Target="/ppt/media/image2.png" Id="R4db463276cff4a00" /><Relationship Type="http://schemas.openxmlformats.org/officeDocument/2006/relationships/notesSlide" Target="/ppt/notesSlides/notesSlide6.xml" Id="R301e7d5812f645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d68b35dceb450c" /><Relationship Type="http://schemas.openxmlformats.org/officeDocument/2006/relationships/notesSlide" Target="/ppt/notesSlides/notesSlide7.xml" Id="R4524a48b958042c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6570ca477e4c6c" /><Relationship Type="http://schemas.openxmlformats.org/officeDocument/2006/relationships/notesSlide" Target="/ppt/notesSlides/notesSlide8.xml" Id="R8b4600a3334246b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64b8a1164f4117" /><Relationship Type="http://schemas.openxmlformats.org/officeDocument/2006/relationships/notesSlide" Target="/ppt/notesSlides/notesSlide9.xml" Id="R78705ed3cb754cd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42f5fd8fa64fdf" /><Relationship Type="http://schemas.openxmlformats.org/officeDocument/2006/relationships/notesSlide" Target="/ppt/notesSlides/notesSlide10.xml" Id="Rfe5b3d3f8a944b3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9AE620-1245-4C02-A857-A46DDA289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3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01EECF-AD64-48A6-B841-80546A28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6D6E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6D6E2"/>
                </a:solidFill>
                <a:latin typeface="Aptos"/>
                <a:ea typeface="Aptos"/>
                <a:cs typeface="Aptos"/>
              </a:rPr>
              <a:t>OPENING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3EE6E8-D92B-4382-B2C1-4FC19A7B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知燃知维：面向动力装备运维知识的可信 GraphRAG 系统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A8E0D1-E98D-4D28-86FE-6F95518C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C9D6E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C9D6E7"/>
                </a:solidFill>
                <a:latin typeface="Microsoft YaHei"/>
                <a:ea typeface="Microsoft YaHei"/>
                <a:cs typeface="Microsoft YaHei"/>
              </a:rPr>
              <a:t>目标不是展示一个问答页，而是交付可结项、可复核、可答辩的证据型知识工程项目。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0032D7-D502-4285-8E5B-EB7606B08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50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4FBDA9-AB37-4B85-9DBD-24B70511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5C56B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5C56B"/>
                </a:solidFill>
                <a:latin typeface="Aptos Display"/>
                <a:ea typeface="Aptos Display"/>
                <a:cs typeface="Aptos Display"/>
              </a:rPr>
              <a:t>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98BD40-8EB0-4542-8046-4690D11F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系统评测问题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BD68DB-D88E-49D3-9FB3-9DDE2140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30505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76D6E2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76D6E2"/>
                </a:solidFill>
                <a:latin typeface="Aptos Display"/>
                <a:ea typeface="Aptos Display"/>
                <a:cs typeface="Aptos Display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C344F8-2246-4139-A6D7-3D4E40B14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8605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任务类型覆盖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C66FAA-F266-4BD0-B3F3-18412F2E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30505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A9E3B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A9E3BF"/>
                </a:solidFill>
                <a:latin typeface="Aptos Display"/>
                <a:ea typeface="Aptos Display"/>
                <a:cs typeface="Aptos Display"/>
              </a:rPr>
              <a:t>17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D1D683-D6C7-412A-8A22-FF01284B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68605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资料范围覆盖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29D497-535E-4E54-A234-6F8D4D59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0505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Archive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16ED11-FA55-4771-92D4-11DA14D7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68605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manifest 记录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7C017F-C56C-4020-A020-BBF6D431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0505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2A6A6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2A6A6"/>
                </a:solidFill>
                <a:latin typeface="Aptos Display"/>
                <a:ea typeface="Aptos Display"/>
                <a:cs typeface="Aptos Display"/>
              </a:rPr>
              <a:t>GT-07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1B6500-1770-410C-9A2D-864A1BAE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68605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固定演示场景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CD01C0-2688-44F8-BA24-C9ED8C31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0CA4E6-D58A-4006-A2ED-DC189AFE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评审主线：真实资料处理 + RAG/GraphRAG + 自动评测 + 可复现门禁 + 清晰边界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C25AD-7255-4C3C-A196-8196AA9D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2B5F7A-1BF4-4A8F-BCD9-2FC5F0A6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295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现场策略：先证明完成度，再用 GT-07 异常振动场景展示应用价值。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CAE2F5-7D2D-404E-8B77-13FC5E73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18D3B0-E296-4561-AE29-6CA7DFDC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0540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诚信边界：专家反馈与真实彩排未归档前，不把准备材料说成外部背书。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728EC1-3882-4DB3-8696-CF4D1A68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知燃知维 · Challenge Cup defense deck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110838-9B3A-4179-9A75-13C6374B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770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5294619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14FD04-152D-449F-9741-B8D4D864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DE7282-34CD-4844-80A3-C442652E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99A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99A5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52A42C-AFF8-4D07-B71B-1573633F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动力装备资料难点不在问答，而在证据链能否被追溯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C50E80-A21D-4F34-8533-FE1E9082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扫描件、术语、部件关系和维修流程混在一起，普通检索容易回答但难以解释。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A3F7E6-BC7A-4D1E-A1A2-6DB860A24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B69924-C691-40EB-BE52-B37AB994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AE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5B541A-8DB5-4F35-80B5-E0946068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52650"/>
            <a:ext cx="2800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5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B54747"/>
                </a:solidFill>
                <a:latin typeface="Microsoft YaHei"/>
                <a:ea typeface="Microsoft YaHei"/>
                <a:cs typeface="Microsoft YaHei"/>
              </a:rPr>
              <a:t>真实痛点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079D8-788E-496F-99B5-AA92020F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28003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资料分散、扫描件多、术语密集；评委最关心系统是否能稳定定位证据，而不是一句流畅回答。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1D2C62-2B73-48C1-8D11-00E48DC2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002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007EAF-8285-45BB-9791-784AAA7B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152650"/>
            <a:ext cx="2800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rPr>
              <a:t>方法创新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623A15-55B6-41BB-B7F4-7E848B504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514600"/>
            <a:ext cx="28003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把 OCR、chunk、RAG、知识图谱、GraphRAG 子集和人工补证串成 evidence-bound 工作流。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55ED9A-E67C-431E-AD23-857D55D1D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002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9E5C8A-12BB-435D-9025-8FF40D71C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52650"/>
            <a:ext cx="2800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7D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F7D59"/>
                </a:solidFill>
                <a:latin typeface="Microsoft YaHei"/>
                <a:ea typeface="Microsoft YaHei"/>
                <a:cs typeface="Microsoft YaHei"/>
              </a:rPr>
              <a:t>结项价值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614AF5-0C71-49B1-B8F3-1BCCD7B8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14600"/>
            <a:ext cx="28003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材料包、readiness gate、submission archive 和固定演示场景让项目能被验收，而不是只能口头展示。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98553-45C0-4C48-8B65-7FF35174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162550"/>
            <a:ext cx="9334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A"/>
          </a:solidFill>
          <a:ln xmlns:a="http://schemas.openxmlformats.org/drawingml/2006/main" w="9525">
            <a:solidFill>
              <a:srgbClr val="E0C07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30519F-3B41-457D-AC48-B7910EA8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314950"/>
            <a:ext cx="8991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38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一句话答辩：我们做的是“证据型辅助和知识资产整理”，不是替代工程师做高风险维修决策。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D6580D-66AE-46FC-ABF8-FD8CD8BC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知燃知维 · Challenge Cup defense deck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7D3D6A-5AA2-42BF-B398-52E447DCD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770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3424048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2EA050-7D78-405B-A12B-7A89A093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5664EF-D044-4EF5-AD71-7F2AC0BC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99A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99A5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2BE532-5142-41A7-BA3D-51A9963A5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工程闭环覆盖资料导入、检索增强、图谱证据和评测门禁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3EB42-6FB3-4826-8DD7-B23269BAC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这页回答“项目完成度是否只是前端包装”的问题。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92E42A-B146-4525-872C-14D56371A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7CDB7C-E153-4EFB-89DA-AA7F2FF0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457A6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2457A6"/>
                </a:solidFill>
                <a:latin typeface="Aptos Display"/>
                <a:ea typeface="Aptos Display"/>
                <a:cs typeface="Aptos Display"/>
              </a:rPr>
              <a:t>OCR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42155F-E895-4295-B2B3-F954582E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扫描资料结构化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3D1495-B792-4F64-843C-3149789B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0193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499A5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499A5"/>
                </a:solidFill>
                <a:latin typeface="Aptos Display"/>
                <a:ea typeface="Aptos Display"/>
                <a:cs typeface="Aptos Display"/>
              </a:rPr>
              <a:t>RAG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003C2F-B7A8-4E90-A102-BDCA5E91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0030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文本证据召回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7E67D3-3D26-4FC9-9236-C565E410C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193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7D5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2F7D59"/>
                </a:solidFill>
                <a:latin typeface="Aptos Display"/>
                <a:ea typeface="Aptos Display"/>
                <a:cs typeface="Aptos Display"/>
              </a:rPr>
              <a:t>KG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1C3811-3919-41C4-AA30-07A69A846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40030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关系证据组织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43BA91-1D3C-4702-A10F-D00B81D4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0193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7791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7791F"/>
                </a:solidFill>
                <a:latin typeface="Aptos Display"/>
                <a:ea typeface="Aptos Display"/>
                <a:cs typeface="Aptos Display"/>
              </a:rPr>
              <a:t>Gate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B1404F-75F2-4CCF-AD13-CB5367F7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40030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机器验收门禁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752A5E-A57E-4D74-9FA2-3957F793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76625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0A6E36-EE47-44DE-B396-0D6509DFD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29025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rPr>
              <a:t>资料层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975C8E-C87B-4121-83AA-56B57944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990975"/>
            <a:ext cx="203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课程资料、维修案例、JSON 问答和浏览器演示快照。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79CCA8-E19C-4B11-8BDD-E477CC25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476625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339B7D-BE1B-4A0E-BB7E-DAF553EE4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629025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rPr>
              <a:t>检索层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2E18B5-8D66-46BD-AF53-42CED5E6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990975"/>
            <a:ext cx="203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keyword / hybrid / GraphRAG context，对同题子集做证据覆盖审计。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38F188-3D14-4D32-B70F-CAA6F000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76625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85BD76-6419-4CE8-BE13-26E0FE261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29025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rPr>
              <a:t>评测层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2E4EEC-A4B6-4237-8881-1349BC4DC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90975"/>
            <a:ext cx="203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60 题评测集、baseline、失败归因、manual evidence supplement。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5E8318-106A-4B84-B4F7-0121B6D4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76625"/>
            <a:ext cx="238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0A7D34-7A30-4848-B307-5FF2ABF05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29025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rPr>
              <a:t>交付层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93DA52-4AB7-49F6-84A5-8DF008EB9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990975"/>
            <a:ext cx="2038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README、项目书、答辩材料、归档包、readiness gate。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18A333-0732-49E8-BC77-CF969780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知燃知维 · Challenge Cup defense deck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C4528F-A8A1-49E6-B13F-1AD8E057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770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3582743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62734F-9380-41E5-A788-E843B5EF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B29007-24AA-4DE6-93DB-B4EDC607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99A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99A5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29E6D1-FB86-43EB-928C-19C25FBD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60 题评测集把“能演示”压实为“能复核”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4441BE-DE0B-491B-A58E-C9EFC9C4B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11 类任务、17 类资料范围、10 道 GraphRAG 标记问题。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80FC37-D30C-4AF0-B197-9F685686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24221-38CE-4D7B-8988-2184043D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457A6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2457A6"/>
                </a:solidFill>
                <a:latin typeface="Aptos Display"/>
                <a:ea typeface="Aptos Display"/>
                <a:cs typeface="Aptos Display"/>
              </a:rPr>
              <a:t>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7AC89B-BD0F-4BFA-B525-7FE0F3E3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评测题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E1CE1D-0E19-47F3-8511-62436B22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00025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499A5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499A5"/>
                </a:solidFill>
                <a:latin typeface="Aptos Display"/>
                <a:ea typeface="Aptos Display"/>
                <a:cs typeface="Aptos Display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CE7E2D-1003-4708-A61F-294E8C785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38125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task_type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ED458C-E702-4B59-AB37-B9042D39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0025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7D5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2F7D59"/>
                </a:solidFill>
                <a:latin typeface="Aptos Display"/>
                <a:ea typeface="Aptos Display"/>
                <a:cs typeface="Aptos Display"/>
              </a:rPr>
              <a:t>17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B0609C-F1FB-4319-8335-8F38426D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38125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source_scope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7D35F3-715D-45B4-89CE-1F6D629CC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00025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7791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7791F"/>
                </a:solidFill>
                <a:latin typeface="Aptos Display"/>
                <a:ea typeface="Aptos Display"/>
                <a:cs typeface="Aptos Display"/>
              </a:rPr>
              <a:t>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8B4CCF-53AC-47A4-B4A8-6EC2BF2A8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8125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GraphRAG 子集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77E5FC-C017-4D61-9425-DFA8C2E1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00025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5474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54747"/>
                </a:solidFill>
                <a:latin typeface="Aptos Display"/>
                <a:ea typeface="Aptos Display"/>
                <a:cs typeface="Aptos Display"/>
              </a:rPr>
              <a:t>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F9AF73-C6BA-46FF-A6CB-FCF2ED74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8125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剩余补证任务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91A623-99FC-4744-82B5-8D0DB438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8FA8FE-5092-4E17-9ED0-C5EC0022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每题包含标准答案、证据关键词、任务类型、资料范围和评分说明。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B69EA6-B339-4616-8558-E870F1A86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A3330A-6F71-4D5F-8EA0-64D56B53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GraphRAG 子集当前本地证据状态为 supported=10, partial=0, missing=0。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F8B440-3B09-436B-8A31-A65F2AF8A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2CF6EF-3372-4487-AC4B-19DDB6B5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1965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边界：本地证据覆盖不等于在线 LLM 胜率，也不等于外部专家认可。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480F66-E25F-4B85-B6B0-DFBE1511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知燃知维 · Challenge Cup defense deck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74BC79-9EB2-4EB1-A75C-DEA592E6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770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2295077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BAFF8E-3BE3-4C0C-9CFF-4207746E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A465DA-A521-463A-8E0C-592E3A86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99A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99A5"/>
                </a:solidFill>
                <a:latin typeface="Aptos"/>
                <a:ea typeface="Aptos"/>
                <a:cs typeface="Aptos"/>
              </a:rPr>
              <a:t>SCENARIO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2341A8-EE8F-49B9-97BF-7678A1A6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固定应用场景：GT-07 燃气轮机异常振动诊断流程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159C9D-01BF-41C9-A6D4-3FD6C78E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用真实浏览器烟测截图证明现场演示不是口头描述。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F1DB73-921A-4AC8-8224-E830AD2F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06767C-F73E-4A60-89CE-164A820D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C0FC45-F0EE-4872-85C3-E51D9FE4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457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固定查询：燃气轮机异常振动诊断流程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547801-EFA1-4F95-91D4-E375AFD5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3BCCE5-2316-4D2A-AD66-FF641B09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457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浏览器可见记录数：5；集合 gas_turbine_ocr_demo_snapshot · 延迟 41.80 ms · 结果 5 · 后端 public-demo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BA2398-3C26-4138-9B91-AFBE913A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A022BC-0384-4349-B42B-F3A13B01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457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证据链覆盖阈值、叶片、滤网、传感器、检修和人工确认边界。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1FE21D-56B9-4958-ACE4-317D47396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BCDD94-4795-4A6D-BF3B-47160D76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457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高风险维修仍需人工确认；系统定位为证据型辅助。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36BC7A-0C13-415C-9196-B20CE76B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790700"/>
            <a:ext cx="5105400" cy="3581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46ef43d1a84a64"/>
          <a:stretch xmlns:a="http://schemas.openxmlformats.org/drawingml/2006/main"/>
        </p:blipFill>
        <p:spPr>
          <a:xfrm xmlns:a="http://schemas.openxmlformats.org/drawingml/2006/main">
            <a:off x="6061364" y="1866900"/>
            <a:ext cx="4488873" cy="34290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F9AD5B-2BB9-4528-BF76-38D459F75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知燃知维 · Challenge Cup defense deck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C1F445-3F12-45B3-A330-487C85E6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770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5628268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E7D9BF-25D9-4B18-ADC4-85634C89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946A93-A335-4546-970D-DABDBF6C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99A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99A5"/>
                </a:solidFill>
                <a:latin typeface="Aptos"/>
                <a:ea typeface="Aptos"/>
                <a:cs typeface="Aptos"/>
              </a:rPr>
              <a:t>GRAPHRAG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82C51D-2EFA-416A-BA8E-95D70A68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GraphRAG 价值不靠泛化承诺，而靠关系证据可视化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9225C9-C7A3-4CA4-B92D-EF6CD9BC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答辩时只主张固定子集证据覆盖，不宣称所有问题全面优于 baseline。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43FCA7-A736-43E5-B482-F853AE81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7FF29C-3943-48B0-9833-2D12B395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2BBD47-1576-4B65-9A6D-1D47CFFF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476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GraphRAG 用于部件、故障、检查项和处理措施之间的关系解释。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16A404-DFED-458B-A9A6-4F6EC2EDF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9C8283-F992-4FEC-9FAD-3F6FCF194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476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manual evidence supplement 已关闭 P0 missing 与 relation schema gap。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84DF0-50C3-4188-A7A2-F73916C2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10D8BA-2BF0-4123-BEAD-99C4814D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476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可指向报告：evaluation/reports/challenge_cup_graphrag_same_question_report.md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285AD2-14BB-4EBC-8034-A6CD8050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1714500"/>
            <a:ext cx="5105400" cy="36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b463276cff4a00"/>
          <a:stretch xmlns:a="http://schemas.openxmlformats.org/drawingml/2006/main"/>
        </p:blipFill>
        <p:spPr>
          <a:xfrm xmlns:a="http://schemas.openxmlformats.org/drawingml/2006/main">
            <a:off x="6135312" y="1790700"/>
            <a:ext cx="4588625" cy="35052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C754F6-D03B-4D11-8ADE-682EC0CB6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9700"/>
            <a:ext cx="471487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B9DB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0B2A2B-4DF7-44BB-A9BC-37FF0534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72100"/>
            <a:ext cx="437197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38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关键答法：GraphRAG 是关系证据组织能力，不是“所有题都一定赢”的口号。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463179-C033-41AE-9BEE-D654AEBD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知燃知维 · Challenge Cup defense deck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A798AD-9177-4582-ABA8-5DBFC7AF8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770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9766907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8D313B-5FE4-4673-8B93-C63456E2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9305C4-3A4F-46BE-9F3B-E889285F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99A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99A5"/>
                </a:solidFill>
                <a:latin typeface="Aptos"/>
                <a:ea typeface="Aptos"/>
                <a:cs typeface="Aptos"/>
              </a:rPr>
              <a:t>SUBMISSION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316F6F-02CE-4ABE-A962-EAEB1E91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结项提交不是散文件：已形成归档包、哈希和机器门禁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971BB6-FDB3-4BF7-BEF3-BC5E42E1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readiness gate 已纳入材料、证据、归档和答辩门禁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938585-6CBB-4DE1-9949-34794B9A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17D7FF-7EFC-4813-B847-B06AC3986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457A6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2457A6"/>
                </a:solidFill>
                <a:latin typeface="Aptos Display"/>
                <a:ea typeface="Aptos Display"/>
                <a:cs typeface="Aptos Display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BAD7CA-6469-4670-82CF-4B843330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归档文件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E61E32-0D00-4A39-9A50-542EE290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0955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499A5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499A5"/>
                </a:solidFill>
                <a:latin typeface="Aptos Display"/>
                <a:ea typeface="Aptos Display"/>
                <a:cs typeface="Aptos Display"/>
              </a:rPr>
              <a:t>2355KB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8303B9-BD16-4881-8008-D7B8A82A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7650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zip 大小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31A83D-FC10-4A36-9136-83F86ED4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955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7D5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2F7D59"/>
                </a:solidFill>
                <a:latin typeface="Aptos Display"/>
                <a:ea typeface="Aptos Display"/>
                <a:cs typeface="Aptos Display"/>
              </a:rPr>
              <a:t>SHA256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047BD4-3C9A-4A3F-BD14-3EF5830B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47650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完整性校验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01EA63-74D2-47CB-ACA7-C9843C20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0955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7791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7791F"/>
                </a:solidFill>
                <a:latin typeface="Aptos Display"/>
                <a:ea typeface="Aptos Display"/>
                <a:cs typeface="Aptos Display"/>
              </a:rPr>
              <a:t>README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109FAC-90B5-4CA9-B477-EC5FB511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47650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评审入口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6F75C2-89FD-4B81-9547-02A96950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4B2022-0957-46A7-9B98-E20AA5C3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package_manifest.json 记录证据文件、评测覆盖画像和归档清单。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2B10D1-23CF-481D-9ED3-FD979661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6A282A-597F-4876-BADB-6FC10762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7675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evidence_hashes.json 与 submission archive manifest 支撑复核。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075DDC-5384-4684-8363-85C45773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62D356-B938-4AE7-B967-2874CCADF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readiness gate 覆盖材料、评测、浏览器烟测、GraphRAG、答辩和归档。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079EFC-AAC8-4327-A1BC-20A3A5066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知燃知维 · Challenge Cup defense deck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122C8E-A525-4A24-9A91-9C396AB5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770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903996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A00CB1-F848-4EFB-AB47-BDF03E49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68FACA-55B5-4897-9B45-CC879A9A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99A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99A5"/>
                </a:solidFill>
                <a:latin typeface="Aptos"/>
                <a:ea typeface="Aptos"/>
                <a:cs typeface="Aptos"/>
              </a:rPr>
              <a:t>SPECIAL PRIZE ANGLE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CEDB41-7535-4BB3-A414-47E7328D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特等奖争取点：创新性、完成度、可复现和边界严谨同时成立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4879A-B8F9-4588-A816-6C72DA026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这页用于回答“为什么不只是一个普通 RAG demo”。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951E55-B79C-4CF4-8354-89DD0F20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448B49-E9EC-412B-8115-003AC0E0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0F424D-CB50-4537-B0C6-CF0F699F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52650"/>
            <a:ext cx="2133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DF3FFD-0BDF-4886-A2A4-96BA5EB1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21336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Evidence-bound RAG + GraphRAG 子集 + 失败归因 + 补证闭环。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3120E7-7F70-4E51-A7D7-6D3192DC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2476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B92DD9-AE56-4FB4-A2BC-969CD8D7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152650"/>
            <a:ext cx="2133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rPr>
              <a:t>完成度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635EF2-2D06-411D-9AFB-A89F4D90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14600"/>
            <a:ext cx="21336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项目书、白皮书、验收清单、固定演示、归档包和门禁报告齐备。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C4FA0A-E0BC-4EF5-9F10-AFF6B963A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76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B6DD4D-BD5B-4F88-B0AD-AD4A04DF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52650"/>
            <a:ext cx="2133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rPr>
              <a:t>可复现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BF2265-F1A8-4C9D-813A-0C9F82CA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514600"/>
            <a:ext cx="21336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60 题评测集、baseline、smoke、hashes、readiness gate 可重新运行。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D47DF1-86DD-4CD4-AB3E-1FFE4E265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476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AE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F2E68B-13F8-4CEB-9F15-CE7A908E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52650"/>
            <a:ext cx="2133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5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B54747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5E274F-487F-4815-AD92-4A1A5A99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514600"/>
            <a:ext cx="21336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不夸大生产替代、不伪造专家反馈、不把 gate 说成获奖保证。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4CD61B-6CC0-4626-A292-1231D466A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105400"/>
            <a:ext cx="9810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A"/>
          </a:solidFill>
          <a:ln xmlns:a="http://schemas.openxmlformats.org/drawingml/2006/main" w="9525">
            <a:solidFill>
              <a:srgbClr val="E0C07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7BFA8C-4059-40F7-A66C-65D7D0FB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5257800"/>
            <a:ext cx="946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38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38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现场表达策略：主动展示失败案例和边界，比回避问题更能体现科学性和工程可信度。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81EBE0-F1B1-4B44-8D1B-FBB0E386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知燃知维 · Challenge Cup defense deck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9F55AB-2DB5-499E-BF04-873E5B7E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770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972699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C1024C-4432-4473-A576-18DFCC34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6FE28B-0880-4993-8959-14D97F805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99A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99A5"/>
                </a:solidFill>
                <a:latin typeface="Aptos"/>
                <a:ea typeface="Aptos"/>
                <a:cs typeface="Aptos"/>
              </a:rPr>
              <a:t>EXTERNAL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9DF445-AC81-474E-BF81-E70A87B5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专家反馈与彩排是最后硬证据：已准备采集，不伪造结果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7C632D-34E7-41AC-A97C-C39B73CF0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当前状态是 ready-to-send / ready-to-record，而不是已获得专家背书。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D5C9BA-FA08-47AD-850A-D4C58678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3C0897-B36F-400D-A3BB-1DED1B78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4762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76478E-9526-4EAE-8C4F-41C7F9C54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52650"/>
            <a:ext cx="4419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rPr>
              <a:t>专家反馈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263A90-38B2-4270-93F8-CD7F28C8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14600"/>
            <a:ext cx="4419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外发包、反馈表、归档类型和整改闭环已准备；收到真实签字、邮件、会议纪要或聊天记录后再更新。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7D8D22-DF46-417A-8FC4-06F1A3C1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00250"/>
            <a:ext cx="4762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E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753E20-CC40-46FE-BF40-553BF3D2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52650"/>
            <a:ext cx="4419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rPr>
              <a:t>真实彩排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9C6916-92A8-4E0A-BD28-06F18036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14600"/>
            <a:ext cx="4419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90 秒开场、3 分钟演示、20 秒离线切换和杀手问题均有计分卡；真实计时完成前不宣称通过。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C97D1E-F407-4E04-AD4A-3EE9216E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95750"/>
            <a:ext cx="4762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0AEDAB-323E-4B65-860A-E16040FF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48150"/>
            <a:ext cx="4419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457A6"/>
                </a:solidFill>
                <a:latin typeface="Microsoft YaHei"/>
                <a:ea typeface="Microsoft YaHei"/>
                <a:cs typeface="Microsoft YaHei"/>
              </a:rPr>
              <a:t>必须补的外部证据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F065F9-7BAC-4709-9C09-B514EFE55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10100"/>
            <a:ext cx="4419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至少 1 份外部/导师反馈原件 + 1 次真实计时彩排记录 + 现场问答遗漏清单。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14A3BB-4FD9-4D81-9732-1C80F5D8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95750"/>
            <a:ext cx="4762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AEA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30F281-E084-49E7-8712-8AAEEF34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48150"/>
            <a:ext cx="4419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5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B54747"/>
                </a:solidFill>
                <a:latin typeface="Microsoft YaHei"/>
                <a:ea typeface="Microsoft YaHei"/>
                <a:cs typeface="Microsoft YaHei"/>
              </a:rPr>
              <a:t>补完后的动作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898850-A6D8-4366-B308-88400976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10100"/>
            <a:ext cx="4419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更新反馈闭环与彩排结果包，重新生成 package、submission archive 和 readiness gate。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909CEF-28FE-4077-9E10-6036EA76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知燃知维 · Challenge Cup defense deck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93DF1F-4D89-473A-99E3-6314C98A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770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3925173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FC0854-7C5E-444A-9B35-972E3004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D53979-B16B-43DD-BDA5-9C888597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99A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99A5"/>
                </a:solidFill>
                <a:latin typeface="Aptos"/>
                <a:ea typeface="Aptos"/>
                <a:cs typeface="Aptos"/>
              </a:rPr>
              <a:t>CLOSE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0D3CC4-BBAD-4873-8F41-29E897DB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90 秒讲清项目，3 分钟证明它能被复核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C98917-8C31-4F6A-9816-AD1B36E98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952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终审答辩只保留一条主线：问题、方法、证据、边界、下一步。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F9B708-D1D5-4E15-8CFC-A345B895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E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17A26C-E910-4D39-B725-2653178C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457A6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2457A6"/>
                </a:solidFill>
                <a:latin typeface="Aptos Display"/>
                <a:ea typeface="Aptos Display"/>
                <a:cs typeface="Aptos Display"/>
              </a:rPr>
              <a:t>90s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42E2C8-EC18-42EA-AABB-0BD46A821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开场定位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B2E908-3BED-4325-8621-0DEC1E85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0955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499A5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1499A5"/>
                </a:solidFill>
                <a:latin typeface="Aptos Display"/>
                <a:ea typeface="Aptos Display"/>
                <a:cs typeface="Aptos Display"/>
              </a:rPr>
              <a:t>180s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0D90AB-D939-451E-AC4B-83E5A857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47650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固定演示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B3D6AD-37AA-4841-87A3-8FE9213AC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955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7D5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2F7D59"/>
                </a:solidFill>
                <a:latin typeface="Aptos Display"/>
                <a:ea typeface="Aptos Display"/>
                <a:cs typeface="Aptos Display"/>
              </a:rPr>
              <a:t>20s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B74059-FC80-4883-A3EC-C2A958CD3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47650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离线切换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C7840C-3C45-4F68-9115-1FE62546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0955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7791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7791F"/>
                </a:solidFill>
                <a:latin typeface="Aptos Display"/>
                <a:ea typeface="Aptos Display"/>
                <a:cs typeface="Aptos Display"/>
              </a:rPr>
              <a:t>30s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08D2F7-0A63-4F36-807C-0841EAD73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47650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杀手问题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991AF5-9D20-4825-8099-86B5E0235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095500"/>
            <a:ext cx="1314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B5474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54747"/>
                </a:solidFill>
                <a:latin typeface="Aptos Display"/>
                <a:ea typeface="Aptos Display"/>
                <a:cs typeface="Aptos Display"/>
              </a:rPr>
              <a:t>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F91BF9-ED94-43DD-8B1D-3E3388B3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76500"/>
            <a:ext cx="1409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526173"/>
                </a:solidFill>
                <a:latin typeface="Microsoft YaHei"/>
                <a:ea typeface="Microsoft YaHei"/>
                <a:cs typeface="Microsoft YaHei"/>
              </a:rPr>
              <a:t>夸大承诺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D816CD-2C63-488F-9AF4-4EFBBC68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4EA08D-7C8C-4B7B-96CC-5025AC93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3860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结论：项目已经从 RAG 页面升级为可结项、可审计、可答辩的知识工程系统。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8B8ED1-DEE4-4E53-B8D7-5A60325A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A60A3F-6B38-41EA-B9ED-4CFB9A812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105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特等奖冲刺仍需真实专家反馈和真实彩排证据；这两项不能用内部材料替代。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B1FEA3-2722-4915-B7B8-DAB840E3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99A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6F9B62-C2DF-41FD-82E1-4655E329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0"/>
            <a:ext cx="942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52033"/>
                </a:solidFill>
                <a:latin typeface="Microsoft YaHei"/>
                <a:ea typeface="Microsoft YaHei"/>
                <a:cs typeface="Microsoft YaHei"/>
              </a:rPr>
              <a:t>最终动作：带着 submission archive、PPT、讲稿和 readiness report 进入现场。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A17D8B-A34F-41AF-BFCD-D6942769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960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知燃知维 · Challenge Cup defense deck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5BAE26-FCB6-495B-AC95-43F7F289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4770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7B8798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7B8798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882842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2026-06-05T19:53:47.4780000Z</dcterms:created>
  <dcterms:modified xsi:type="dcterms:W3CDTF">2026-06-05T19:53:47.4780000Z</dcterms:modified>
</coreProperties>
</file>