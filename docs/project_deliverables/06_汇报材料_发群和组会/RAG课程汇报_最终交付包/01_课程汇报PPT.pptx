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d35549749149be" /><Relationship Type="http://schemas.openxmlformats.org/officeDocument/2006/relationships/extended-properties" Target="/docProps/app.xml" Id="R07486d7a207c4b71" /><Relationship Type="http://schemas.openxmlformats.org/officeDocument/2006/relationships/officeDocument" Target="/ppt/presentation.xml" Id="R6b6a9ffd48a44c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1011874f9e41ff"/>
  </p:sldMasterIdLst>
  <p:notesMasterIdLst>
    <p:notesMasterId xmlns:r="http://schemas.openxmlformats.org/officeDocument/2006/relationships" r:id="R901efc30ef6d4ec7"/>
  </p:notesMasterIdLst>
  <p:sldIdLst>
    <p:sldId xmlns:r="http://schemas.openxmlformats.org/officeDocument/2006/relationships" id="256" r:id="Rf9d1a33d42124dfa"/>
    <p:sldId xmlns:r="http://schemas.openxmlformats.org/officeDocument/2006/relationships" id="257" r:id="Rac0d4d9859724fe4"/>
    <p:sldId xmlns:r="http://schemas.openxmlformats.org/officeDocument/2006/relationships" id="258" r:id="R920e9d028c3446fa"/>
    <p:sldId xmlns:r="http://schemas.openxmlformats.org/officeDocument/2006/relationships" id="259" r:id="R87e070c7a5db4cb5"/>
    <p:sldId xmlns:r="http://schemas.openxmlformats.org/officeDocument/2006/relationships" id="260" r:id="R92cb51680a274c73"/>
    <p:sldId xmlns:r="http://schemas.openxmlformats.org/officeDocument/2006/relationships" id="261" r:id="Rf9c4aa04ad6e47f5"/>
    <p:sldId xmlns:r="http://schemas.openxmlformats.org/officeDocument/2006/relationships" id="262" r:id="Ra214a3fe5b1146d9"/>
    <p:sldId xmlns:r="http://schemas.openxmlformats.org/officeDocument/2006/relationships" id="263" r:id="R216582cb8bef4daf"/>
    <p:sldId xmlns:r="http://schemas.openxmlformats.org/officeDocument/2006/relationships" id="264" r:id="R48de0a38c64a469c"/>
    <p:sldId xmlns:r="http://schemas.openxmlformats.org/officeDocument/2006/relationships" id="265" r:id="R11ed2c546e5848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e98fe13806434d" /><Relationship Type="http://schemas.openxmlformats.org/officeDocument/2006/relationships/slideMaster" Target="/ppt/slideMasters/slideMaster1.xml" Id="R321011874f9e41ff" /><Relationship Type="http://schemas.openxmlformats.org/officeDocument/2006/relationships/notesMaster" Target="/ppt/notesMasters/notesMaster1.xml" Id="R901efc30ef6d4ec7" /><Relationship Type="http://schemas.openxmlformats.org/officeDocument/2006/relationships/presProps" Target="/ppt/presProps.xml" Id="Rf02554b472474b96" /><Relationship Type="http://schemas.openxmlformats.org/officeDocument/2006/relationships/viewProps" Target="/ppt/viewProps.xml" Id="R2aef33b600434ee2" /><Relationship Type="http://schemas.openxmlformats.org/officeDocument/2006/relationships/tableStyles" Target="/ppt/tableStyles.xml" Id="R3fffc8b447e64698" /><Relationship Type="http://schemas.openxmlformats.org/officeDocument/2006/relationships/slide" Target="/ppt/slides/slide1.xml" Id="Rf9d1a33d42124dfa" /><Relationship Type="http://schemas.openxmlformats.org/officeDocument/2006/relationships/slide" Target="/ppt/slides/slide2.xml" Id="Rac0d4d9859724fe4" /><Relationship Type="http://schemas.openxmlformats.org/officeDocument/2006/relationships/slide" Target="/ppt/slides/slide3.xml" Id="R920e9d028c3446fa" /><Relationship Type="http://schemas.openxmlformats.org/officeDocument/2006/relationships/slide" Target="/ppt/slides/slide4.xml" Id="R87e070c7a5db4cb5" /><Relationship Type="http://schemas.openxmlformats.org/officeDocument/2006/relationships/slide" Target="/ppt/slides/slide5.xml" Id="R92cb51680a274c73" /><Relationship Type="http://schemas.openxmlformats.org/officeDocument/2006/relationships/slide" Target="/ppt/slides/slide6.xml" Id="Rf9c4aa04ad6e47f5" /><Relationship Type="http://schemas.openxmlformats.org/officeDocument/2006/relationships/slide" Target="/ppt/slides/slide7.xml" Id="Ra214a3fe5b1146d9" /><Relationship Type="http://schemas.openxmlformats.org/officeDocument/2006/relationships/slide" Target="/ppt/slides/slide8.xml" Id="R216582cb8bef4daf" /><Relationship Type="http://schemas.openxmlformats.org/officeDocument/2006/relationships/slide" Target="/ppt/slides/slide9.xml" Id="R48de0a38c64a469c" /><Relationship Type="http://schemas.openxmlformats.org/officeDocument/2006/relationships/slide" Target="/ppt/slides/slide10.xml" Id="R11ed2c546e5848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2c6e6bb37f45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88dc47b2694884" /><Relationship Type="http://schemas.openxmlformats.org/officeDocument/2006/relationships/notesMaster" Target="/ppt/notesMasters/notesMaster1.xml" Id="R0fc40062f9c148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27645aee4d4f6c" /><Relationship Type="http://schemas.openxmlformats.org/officeDocument/2006/relationships/notesMaster" Target="/ppt/notesMasters/notesMaster1.xml" Id="Raf7035997e5c4e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c03acca4ce452d" /><Relationship Type="http://schemas.openxmlformats.org/officeDocument/2006/relationships/notesMaster" Target="/ppt/notesMasters/notesMaster1.xml" Id="Rce577571ff9649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d4cf7f148c4e06" /><Relationship Type="http://schemas.openxmlformats.org/officeDocument/2006/relationships/notesMaster" Target="/ppt/notesMasters/notesMaster1.xml" Id="Rad6a81e268f24e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6f6f32cd5244f9" /><Relationship Type="http://schemas.openxmlformats.org/officeDocument/2006/relationships/notesMaster" Target="/ppt/notesMasters/notesMaster1.xml" Id="R3cfe8442e9ea45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92a63c5c6742ac" /><Relationship Type="http://schemas.openxmlformats.org/officeDocument/2006/relationships/notesMaster" Target="/ppt/notesMasters/notesMaster1.xml" Id="R003d452b2e0f45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1dddc375264c87" /><Relationship Type="http://schemas.openxmlformats.org/officeDocument/2006/relationships/notesMaster" Target="/ppt/notesMasters/notesMaster1.xml" Id="Rf9edb82d8a0049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d75ffa67b84aca" /><Relationship Type="http://schemas.openxmlformats.org/officeDocument/2006/relationships/notesMaster" Target="/ppt/notesMasters/notesMaster1.xml" Id="Rb542f4d46c4c42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01c1c57dbc4ac1" /><Relationship Type="http://schemas.openxmlformats.org/officeDocument/2006/relationships/notesMaster" Target="/ppt/notesMasters/notesMaster1.xml" Id="R88d63d77e00544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fa0a63785c4e85" /><Relationship Type="http://schemas.openxmlformats.org/officeDocument/2006/relationships/notesMaster" Target="/ppt/notesMasters/notesMaster1.xml" Id="R86d3bddb131344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b53126e4a49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e6b412d6fc4ffe" /><Relationship Type="http://schemas.openxmlformats.org/officeDocument/2006/relationships/slideLayout" Target="/ppt/slideLayouts/slideLayout1.xml" Id="Rc8526f23bed745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526f23bed745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1c2c1cb0b4526" /><Relationship Type="http://schemas.openxmlformats.org/officeDocument/2006/relationships/notesSlide" Target="/ppt/notesSlides/notesSlide1.xml" Id="R15fb6e056e7f46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c7cb17bea4844" /><Relationship Type="http://schemas.openxmlformats.org/officeDocument/2006/relationships/notesSlide" Target="/ppt/notesSlides/notesSlide2.xml" Id="R88ac225128a645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91789cad544c9" /><Relationship Type="http://schemas.openxmlformats.org/officeDocument/2006/relationships/notesSlide" Target="/ppt/notesSlides/notesSlide3.xml" Id="R3fd3f88c027547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e622289584156" /><Relationship Type="http://schemas.openxmlformats.org/officeDocument/2006/relationships/notesSlide" Target="/ppt/notesSlides/notesSlide4.xml" Id="R3b97ecfff0f04a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ed6312be644ed" /><Relationship Type="http://schemas.openxmlformats.org/officeDocument/2006/relationships/notesSlide" Target="/ppt/notesSlides/notesSlide5.xml" Id="Ra8defe25c0094c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92a66eaf14f94" /><Relationship Type="http://schemas.openxmlformats.org/officeDocument/2006/relationships/notesSlide" Target="/ppt/notesSlides/notesSlide6.xml" Id="R3be98390c18040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86ea1e8c8406b" /><Relationship Type="http://schemas.openxmlformats.org/officeDocument/2006/relationships/notesSlide" Target="/ppt/notesSlides/notesSlide7.xml" Id="R3495a1e898014b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6e7428d5a460f" /><Relationship Type="http://schemas.openxmlformats.org/officeDocument/2006/relationships/notesSlide" Target="/ppt/notesSlides/notesSlide8.xml" Id="Re33470e6405b49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84050ddc54505" /><Relationship Type="http://schemas.openxmlformats.org/officeDocument/2006/relationships/notesSlide" Target="/ppt/notesSlides/notesSlide9.xml" Id="R01f219585e584f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c9c52159747aa" /><Relationship Type="http://schemas.openxmlformats.org/officeDocument/2006/relationships/notesSlide" Target="/ppt/notesSlides/notesSlide10.xml" Id="Ref3416e01d9e4b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956865-E60B-47FB-B1CC-E6B3EFAE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A99E1-4DB3-49C8-B250-8C0177C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19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动力装备 RAG / GraphRAG 阶段汇报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EE038-AE4C-4808-8BF1-BBB8B4AD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3E4"/>
                </a:solidFill>
                <a:latin typeface="Microsoft YaHei"/>
                <a:ea typeface="Microsoft YaHei"/>
                <a:cs typeface="Microsoft YaHei"/>
              </a:rPr>
              <a:t>从 Python 课程项目，到可评测、可复现、可解释的检索增强系统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3E94B-8842-4865-AE2F-4BEFACC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24EE8-EEBE-4D33-BC4C-97B4974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6D6E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76D6E2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F5CCB-23D4-4A33-847A-8BD02A4F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资料输入 PDF/JSON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E4536-FC63-439A-9747-2BCAF20B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76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9E3B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A9E3BF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3BDA6-80D7-41AC-8E2F-351002B6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766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扫描 PDF 已 OCR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2DC7E-EE85-4510-AA15-04E120D2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C5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C56B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29EBD-4312-4782-B7ED-E6F1B2B8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系统评测问题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4C7950-87DF-4779-8F3D-0F7C5790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CC3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9CC3FF"/>
                </a:solidFill>
                <a:latin typeface="Aptos Display"/>
                <a:ea typeface="Aptos Display"/>
                <a:cs typeface="Aptos Display"/>
              </a:rPr>
              <a:t>6494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DD98B-CC55-459E-AD8B-E360529D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离线评测 chunks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F016F-F816-459B-8F56-78321A48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0.833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EEAF1-7F98-4487-BCE3-3C11FFAE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最佳 question recall@K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B9224-54F5-4F6C-962C-B54350C4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6F6"/>
                </a:solidFill>
                <a:latin typeface="Microsoft YaHei"/>
                <a:ea typeface="Microsoft YaHei"/>
                <a:cs typeface="Microsoft YaHei"/>
              </a:rPr>
              <a:t>第五天产物：架构图 · 实验表 · 成功/失败案例 · 可编辑 PPTX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CAABD-51FD-408D-9FA5-8DEE0A1A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Power Equipment RAG · academic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B98D6-1356-47BC-AADB-64F98891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33599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DE61FC-DEAA-466B-AAD2-5173F1A1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E7E5C-ED46-45F5-B869-CAA3F7C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9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97A6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D9E74-89C7-4CA9-97F1-7C3964E6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汇报重点不是“能不能问答”，而是系统是否可被评估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380C6-D73F-4611-8B6D-50659E0E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6B777-5DF2-4C0A-B18B-B50113BF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Power Equipment RAG · academic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37E3B-4480-4421-8FDD-D83F3860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AFF6C-1E02-41EC-8479-D9F848DE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rPr>
              <a:t>课程作业常见风险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6A0B4-81DE-40BE-A844-F2F51DF5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只演示一个问答页面，缺少数据规模、检索证据、失败分析和复现实验。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6C324-A99C-4636-A1D5-0E6553DB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192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rPr>
              <a:t>本项目转化目标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76AE6-5157-4667-91F4-7B33D1F7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把真实资料、OCR、RAG、Graph POC 与评测脚本连接成一条可解释链路。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96621-97ED-4B79-BB67-DBEF17C3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学术汇报标准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1950F-6A2E-47D2-B64E-21087F3A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问题定义、方法设计、实验指标、成功样例、失败原因、下一步优化。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0DDBA-1B53-4477-95A4-FC824F32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2866B-0D20-4504-AD5F-200F61AC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2EEBF-C3FB-4053-AF24-DD6D5CCC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7190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真实资料进入系统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EA834-9AD6-407C-8384-C8156DD7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385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839E1-EB97-4176-A63D-93CBCC84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719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A7E26-BC43-4246-9B18-4BAA4AD5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7190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检索链路跑通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82DCC-712F-4CB5-BF7D-8D190230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9C07C-DE48-4C7E-8C71-9EC2F014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6123B-B1E0-4A91-8FA5-22B3F565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60 题评测集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2A979-A863-4638-AC58-44F225C4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DCD58-DC53-47C8-A5A9-37748F5D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719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E5E28-2883-428A-8015-4C33852D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7190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失败案例归因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A8730-FF30-45EA-92CE-84F9E29A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75EF58-53AC-4DB3-826A-A5406A5D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005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AA817-3C41-46EE-A0E6-2F060B60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68563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43F17-252B-4FDE-BCF7-6855CEFC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4ACE3-8CB7-42EC-B21E-5B027B75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9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97A6"/>
                </a:solidFill>
                <a:latin typeface="Aptos"/>
                <a:ea typeface="Aptos"/>
                <a:cs typeface="Aptos"/>
              </a:rPr>
              <a:t>DATA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12CC9-A86F-4AA4-B835-30A0D158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数据链路已经从资料导入扩展到评测语料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91CB2-854D-4447-A793-D9135BCC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833B1-BDC1-410A-A59F-72BEC284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Power Equipment RAG · academic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5DA67-CE44-461C-8232-8AA5911C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7D80B-C993-4D3E-AD53-677710E8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715EE-4C51-4C62-9AA1-86EEC070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273C4-166F-4DBF-BFC4-A1F4C53F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14 本资料 + 问答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82516-9C50-4255-B5C6-ECF29474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8677C-B021-4361-A892-039DD48A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99E59-66EE-442C-B8B5-2716F480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13 本扫描 PDF OCR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64AFD-C661-48D4-8A98-2F6FEE1F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764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767FC-E202-406E-920B-1E8611E1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097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43CA0-8713-4FD2-B0A9-A50F4BAD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0975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OCR 清洗与 chunk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578CC-00A9-459F-B0C4-01EEBDA8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764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9282B-D176-4C69-8DB5-B6FA7D8D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19048-85D2-460E-B7AF-14322BEF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097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普通 RAG / Graph POC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8AC0B-D6E6-408B-BA41-6EDEF1FD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764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EEB1A-E674-49F7-938C-2284579D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B8B4E-2056-4DF6-8544-7D53A3EF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0975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60 题系统评测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519BA-222B-4C9F-B714-D0328DB3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383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03C12-9D3B-4EA6-B846-12062266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478027-16CF-43E1-A5DC-DEB2C1A2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2B176C-703D-4267-B182-C3F96ED9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83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C360C3-8A23-4456-B6D9-92BC9F3A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OCR 审计证据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13C76-04BF-4696-98C7-CDFD5410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5483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89368C-97D3-4D03-8FAA-0CBCCD15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OCR 页数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04E10B-1271-4A8C-8843-753C735F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57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5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7D59"/>
                </a:solidFill>
                <a:latin typeface="Aptos Display"/>
                <a:ea typeface="Aptos Display"/>
                <a:cs typeface="Aptos Display"/>
              </a:rPr>
              <a:t>5472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632004-D6FF-4D8D-ACDD-18E260BB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57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有文字页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3AB260-BB3A-462C-9BB9-0DACB04E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57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0AF268-D58A-4BCE-AAB8-331757E6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57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运行错误数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C8E878-3DA2-4E2E-9E35-9737ACB3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评测语料证据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02F6E7-EF5E-4C06-8341-4C5EE8A7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57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6494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5A1598-6ABC-4C5B-9C1C-B6F3E425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57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离线 chunks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DAC153-00AD-448E-9B99-F8D0F464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5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7D59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5C109D-D01E-44EF-9640-E9255CA2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评测问题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5EA22F-DFD0-4FD1-9354-73447B6C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57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0F1C95-FAAA-40CA-865D-9FE4DAA8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057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题型分组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76EEA2-1A2A-4A46-82BE-3473FA5A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注：当前第五天 PPT 使用本地 OCR 文本、工程报告和 Graph POC 材料构建离线评测 corpus。</a:t>
            </a:r>
          </a:p>
        </p:txBody>
      </p:sp>
    </p:spTree>
    <p:extLst>
      <p:ext uri="{BB962C8B-B14F-4D97-AF65-F5344CB8AC3E}">
        <p14:creationId xmlns:p14="http://schemas.microsoft.com/office/powerpoint/2010/main" val="19254782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C63B84-D5E6-45E2-9DB4-E8641533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5D1BA-5757-4DDD-82B3-23007589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9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97A6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5FAA3-ACEF-4BFA-9B50-0A5AA570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系统采用普通 RAG 与 GraphRAG 双线并行架构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6E6F4-A608-411F-AD70-6769EF32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6D2D1-D093-4634-86A5-B893EADC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Power Equipment RAG · academic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D1D89-96C3-422A-A586-CEB3E0E2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25A59-8287-405A-BFBD-7B7D971C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离线构建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0E9CE-CB44-421C-B8C1-AD01F487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rPr>
              <a:t>在线检索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ABA87-A984-490B-8BA2-4544C7CE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85900"/>
            <a:ext cx="9334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BFD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EC761-AE84-4849-A1EF-C2F52001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95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Standard 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F5CA5-514E-4755-816B-FAB3ADF9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85A51-42D8-4360-8540-52AB1ADC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E65E5-6C5A-458A-82D8-4ADDCA4C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288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PDF / OCR / 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86A49-F3CF-469E-9E1A-931C38A4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75768-2154-4F2E-971E-054107D9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288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78F30-1F32-4733-AEC5-5D532C13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clean + chunk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2EE27-30DC-4144-A868-AE48EE47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B0A6C-FA85-4566-BDD4-A6E92F48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C8FA9-6E91-4C5C-B87F-662BA9EF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BM25 / vector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EF495-0549-4902-8EAF-1CC1C300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4A10C-C454-4CCB-A16C-CAEA8CE9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55F58-8F51-4F7D-B708-B5F2BAF1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Top-K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BBF42-69E8-41E5-A6FD-C88A9BCA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57550"/>
            <a:ext cx="9334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B9DB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F6B72-1CC3-401B-B838-8E1354FC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67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rPr>
              <a:t>KG / GraphRAG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F3D9A-275A-44D8-85E4-AD511B6F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73F323-3BEE-4BD3-A1AE-BC09F3A4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005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2CDE0D-58F8-4E18-87AA-FCEA9D12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005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Label Studio 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D8B2EB-E097-48DD-939C-A7AA2EC9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671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801046-B10F-4C59-A7F6-E4D95C7D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DDECCC-BF3E-445A-84ED-A1771B3C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schema triples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351AB8-D049-4A5E-9933-E93F85EC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398921-C1D3-4126-B27A-DE6AD534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CDC63F-6C92-4F40-AD98-ECD93337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evidence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2D536E-783B-45BD-AB23-C420ACA3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8CD457-90B3-4320-AD0A-4F1FFC2D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B2070A-F6A4-4165-A896-97BB5142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community/global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E6B5C1-1E2C-4478-AB59-71D149CB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625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69E5D5-9C0D-4C2B-A88A-A0468BF0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149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Shared infrastructure: model adapters · evaluation runner · reports · local console</a:t>
            </a:r>
          </a:p>
        </p:txBody>
      </p:sp>
    </p:spTree>
    <p:extLst>
      <p:ext uri="{BB962C8B-B14F-4D97-AF65-F5344CB8AC3E}">
        <p14:creationId xmlns:p14="http://schemas.microsoft.com/office/powerpoint/2010/main" val="17650405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8B17B3-C78A-489F-A133-9B17E243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2CA0-C95C-48C6-9ED7-CCF2F0EC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9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97A6"/>
                </a:solidFill>
                <a:latin typeface="Aptos"/>
                <a:ea typeface="Aptos"/>
                <a:cs typeface="Aptos"/>
              </a:rPr>
              <a:t>EVALUATION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CB9B3-27F0-4C15-814E-424F25E7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60 题评测集覆盖事实、流程、OCR 风险和 GraphRAG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70465-9490-485D-A861-8496F0F3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5AA1B-3D85-4F34-9745-95B39D69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Power Equipment RAG · academic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A1325-D6F2-4F57-B8D3-6897B154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2F3C9-DA84-4F80-905B-A9AACDBB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基础系统评测 se001-se030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1A6FB-5548-49B3-B761-DAC88D7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57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DBC55-FC38-442C-8E52-8B3C45EA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57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13065-E4E3-4146-B04E-8FBDCEB7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30 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C7C2E-AF13-4F72-A778-26671E8B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挑战杯扩展 cc031-cc060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36655-0B78-43DF-88FE-5BFE59A7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AD05B-C17A-4D79-8CF5-D0D81D44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5A879-3330-4728-A819-7D4F92D2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145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rPr>
              <a:t>30 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28609-8CDF-4EA1-B0D0-B91EFCCE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GraphRAG 同题子集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1BE7E-15B5-4681-9A39-E86704C8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3BB82-2A9A-4A1B-90CE-030A99AF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B1990-3E07-457F-B858-F0FC16A7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rPr>
              <a:t>10 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9703C-B8CB-4B96-A9EF-8E68C277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graph context/global 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5BAEB-FF55-44ED-8F74-3DA69C22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4283AA-C5B7-4095-B2D6-0F23C4C1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9ACE8-D1AD-4878-9F24-6BC13466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861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9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97A6"/>
                </a:solidFill>
                <a:latin typeface="Microsoft YaHei"/>
                <a:ea typeface="Microsoft YaHei"/>
                <a:cs typeface="Microsoft YaHei"/>
              </a:rPr>
              <a:t>10 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3C11D3-7E2A-4DC7-A29C-1A517907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3333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2C7A9-BAF0-4E73-B351-E3532557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每题包含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465DE-9B2B-41BA-8127-DA7758C2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question · reference_answer · expected_evidence_keywords · task_type · source_scope · grading_notes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F84049-31BC-4688-8C08-706A733B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评分口径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BF67E8-95D1-4D3D-90FC-7C063F8F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0050"/>
            <a:ext cx="264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先看检索证据覆盖，再看回答是否忠实。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3C6F9C-059B-4782-866F-2A505EE6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这页回答老师最关心的问题：不是随便问几个问题，而是有分组、有标准答案、有证据关键词。</a:t>
            </a:r>
          </a:p>
        </p:txBody>
      </p:sp>
    </p:spTree>
    <p:extLst>
      <p:ext uri="{BB962C8B-B14F-4D97-AF65-F5344CB8AC3E}">
        <p14:creationId xmlns:p14="http://schemas.microsoft.com/office/powerpoint/2010/main" val="19301188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3D34B-9DA6-41A5-A639-FCC7ACBE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43C1A-D8B0-4319-9D2D-1BC480C3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9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97A6"/>
                </a:solidFill>
                <a:latin typeface="Aptos"/>
                <a:ea typeface="Aptos"/>
                <a:cs typeface="Aptos"/>
              </a:rPr>
              <a:t>BASELINE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5FAC9-5493-4561-82A4-1971AE2D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专业术语场景下，keyword baseline 暂时强于 hashing 向量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6BF9E-7413-419E-A0D6-C8E0A794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710E1-F4BF-4A4D-A304-C5127F5D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Power Equipment RAG · academic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6B63A-AD65-4FF2-9EC5-982F67C2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EBE4C-8F23-42DF-AAD5-9F5C66AC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Question recall@K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CFF4D-968B-4760-831F-E5CB4FA8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keyword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25523-4910-4690-8397-EF1855B8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9B3B4-E7EE-400F-B908-354DE47D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333374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97100-AAF7-4BD9-ACAD-55B0D8FC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478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0.833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41D3C-54D2-448E-AD40-33984550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dense_hashing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58CFB-646B-44C4-94B6-CDEE6CE7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CBB64-CE49-4F36-8E3A-2D38150A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233362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51981-E9B6-4C85-8744-3B9CC8DC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003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9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97A6"/>
                </a:solidFill>
                <a:latin typeface="Microsoft YaHei"/>
                <a:ea typeface="Microsoft YaHei"/>
                <a:cs typeface="Microsoft YaHei"/>
              </a:rPr>
              <a:t>0.583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C21D4-E381-4D0B-9EA8-02BE6693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hybrid_rrf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C87C1-96C7-4769-912D-83AE40A1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81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7CAF9-8B9F-407E-8B5F-50C5BC4B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81350"/>
            <a:ext cx="32670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86746-B542-484D-9E74-A916A0EE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527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rPr>
              <a:t>0.817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6B4DC-F3E1-446F-B7C6-177C90AF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Avg keyword coverage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5895C-B688-4BB9-9C9E-CD822040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keyword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9BB4E-5950-4D5D-8F43-EB735041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67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966AF-BFB1-4035-B014-5FCBDDAE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67250"/>
            <a:ext cx="225250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CF6ED-8F4D-416F-A110-08D3E94C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386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0.563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0045B-84B6-4E70-BF5B-F3E79E9B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dense_hashing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2997AB-A556-408B-B282-4A63FF08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197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CBCE2F-8CAA-448E-9D67-BFA2DA71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19700"/>
            <a:ext cx="11990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C7E56A-C022-4C82-97CE-21D1DED0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911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9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97A6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768811-6E01-4AA8-9DB8-853F0C61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53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hybrid_rrf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4DE4D1-964D-40EB-B66A-F9C2459A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772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5C8494-384F-439C-8F17-BB8B41B9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772150"/>
            <a:ext cx="207914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BC8E18-A30D-4E10-8E0F-47A24102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435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rPr>
              <a:t>0.52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0544DD-B917-4902-B505-B9FA289B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0ACFCF-D888-4589-8CF7-7DE37D66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汇报结论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569959-9FCE-4A47-8E00-8943027E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2457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当前 hashing embedding 只是离线可复现 baseline，不代表最终语义检索质量。专业词汇和报告编号更依赖关键词召回。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74F184-5F64-4067-A1F1-57873C00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148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5EB63E-C72A-487B-AC57-94D38E47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149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keyword 强命中题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5AB810-7CA5-4AFA-8ED3-56A52A4E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148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5474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54747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E43A1C-7411-4FA0-9934-E16DABD7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149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keyword 未命中题</a:t>
            </a:r>
          </a:p>
        </p:txBody>
      </p:sp>
    </p:spTree>
    <p:extLst>
      <p:ext uri="{BB962C8B-B14F-4D97-AF65-F5344CB8AC3E}">
        <p14:creationId xmlns:p14="http://schemas.microsoft.com/office/powerpoint/2010/main" val="11122902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4E9EE-DBC9-4B09-8DC7-3BAEE9E7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50385-9B08-42DB-9CB1-B07ED2F6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9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97A6"/>
                </a:solidFill>
                <a:latin typeface="Aptos"/>
                <a:ea typeface="Aptos"/>
                <a:cs typeface="Aptos"/>
              </a:rPr>
              <a:t>CASE DIAGNOSTICS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133AA-BF30-462D-BDC2-C07741C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成功、弱命中和失败案例共同说明系统边界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C37A2-91A7-412B-B7D7-A1BEA516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EA679-B3BF-4EB7-BF7D-69A068C0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Power Equipment RAG · academic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5F608-901D-4801-965F-8C1BA320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FF361-97EF-437F-B2EF-9726B8B6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B9DB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83EA0-0499-4C21-9C09-8A59C09A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rPr>
              <a:t>成功案例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4762D-9782-4EDE-B1B8-2A49C3B1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se001 联合循环效率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se002 压气机作用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se004 涡轮输出机械功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CE712-5E34-40EB-B576-80C3F353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说明：基础领域事实可以从 OCR 书籍中召回可用证据。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99064-CDC7-4234-A561-C220B8AA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143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E6CC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3C9F1-AE94-4D96-873D-765D747D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66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弱命中案例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DE640-0E2E-43B3-8DB0-8A250B14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431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se003 燃烧室功能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se010 维修报告证据片段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se021 schema 约束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1FEB0-50EB-4995-B289-98B43CD5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9624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说明：Top-K 有相关片段，但关键词覆盖不完整，需要调 chunk 和 reranker。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0B95D-AE29-45B3-BDFC-34E8D196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143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E1B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929BA-F5FA-48B4-A524-6A378C93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rPr>
              <a:t>失败案例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5DFC7-E694-483E-995C-F904334C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se013 Reranker 术语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se024 POC 数字事实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se027 Goldwind 数据规模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9862A-EA5F-467C-A074-29EC40F9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说明：别名、精确数字和结构化字段需要专门索引或事实卡片。</a:t>
            </a:r>
          </a:p>
        </p:txBody>
      </p:sp>
    </p:spTree>
    <p:extLst>
      <p:ext uri="{BB962C8B-B14F-4D97-AF65-F5344CB8AC3E}">
        <p14:creationId xmlns:p14="http://schemas.microsoft.com/office/powerpoint/2010/main" val="7628296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9E0B87-5E13-46F7-939C-91C49363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C6E49-AE80-4854-88BF-6E6AD78F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9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97A6"/>
                </a:solidFill>
                <a:latin typeface="Aptos"/>
                <a:ea typeface="Aptos"/>
                <a:cs typeface="Aptos"/>
              </a:rPr>
              <a:t>FAILURE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8094F-3BDB-4330-8993-47DAB0FD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40 个弱/失败案例被归为 6 类可操作优化项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70ACB-92C4-4CB1-81B3-0B4BBD66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F7CCA-FB5D-487A-9931-3BAAFB4F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Power Equipment RAG · academic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2D201-A05F-4E1F-B0C0-BA9B1FF7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731C6-19C9-4CF4-9EF4-F44AD386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evaluation_concept_gap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33635-1257-4940-ADF0-C60E9CB7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57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09984-F702-463D-96DE-399AEC65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57350"/>
            <a:ext cx="1040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00E78-794C-40C7-8FC2-A4FD7BA8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287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B876F-5626-4227-9E1C-881347E7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383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评测术语源不集中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9834F-9E69-47E3-A37F-DF6441F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hybrid_dilution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3A8FD-13BA-4711-B76B-23074B33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09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AA4F5-17DC-488B-B258-BAD3B791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09800"/>
            <a:ext cx="1360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D349B-01FF-4384-925E-0EF9BBC6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812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1453C-3683-4F84-A339-EBC90951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弱 hashing 稀释排序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494BF-FFC5-4C95-B8E4-CBAECF6B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structured_fact_routing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3BFA0-4A53-4966-8CE4-7616CEF3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2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D442A-D73D-4E0E-AD65-38DC8123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225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408D7-8757-42B7-95D2-E32BD019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336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09455-46D5-4411-8F91-B5B7F4F0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结构化事实未路由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1AB84-4768-4E14-82BA-2895D4C9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partial_ranking_gap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3F208-E5F6-42A0-9760-88DB0633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95E50-0F45-439E-882C-765AEF4A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82AA0-A9BA-4D8A-97D5-93E7EBA3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861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52810-8C8C-4B5A-903A-09FD58EC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Top-K 排序/粒度不足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22CCA-5E48-4FE1-872F-FDAFE3C8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terminology_alias_gap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2DE06D-3252-49C2-B9A4-4D5A43F6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67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40AF0-C435-45AF-AB0D-A55D09E5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6715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56406C-A3AD-43C7-ACB0-81AB78AF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385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D383B7-90C8-4BEB-A3FE-8B8C7D6B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481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术语别名未扩展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09BA35-400E-485C-BA00-3CEE27F3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exact_number_fact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971697-BC04-417B-9E4F-942052D1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196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71BB60-A41B-4BD0-9377-56D359D3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196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E2139B-5DA2-4835-8B07-EC696A05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910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EEB32C-36D0-4CEA-AD64-A3443969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005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精确数字事实需短卡片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CFD649-8ED7-421F-BBF4-9C172012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3714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DCE29D-3741-4DBD-86DF-95DE3EC0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下一步不是堆功能，而是修检索假设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90B604-CD1E-49BA-9644-9B3CA627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176"/>
                </a:solidFill>
                <a:latin typeface="Microsoft YaHei"/>
                <a:ea typeface="Microsoft YaHei"/>
                <a:cs typeface="Microsoft YaHei"/>
              </a:rPr>
              <a:t>同义词扩展 · 事实卡片 · source_scope 路由 · 更好的 embedding/reranker</a:t>
            </a:r>
          </a:p>
        </p:txBody>
      </p:sp>
    </p:spTree>
    <p:extLst>
      <p:ext uri="{BB962C8B-B14F-4D97-AF65-F5344CB8AC3E}">
        <p14:creationId xmlns:p14="http://schemas.microsoft.com/office/powerpoint/2010/main" val="2358099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31B5D2-E5CC-40BB-AE60-F2ECE597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920CE-8BA7-4E53-99C5-92B035A7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9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97A6"/>
                </a:solidFill>
                <a:latin typeface="Aptos"/>
                <a:ea typeface="Aptos"/>
                <a:cs typeface="Aptos"/>
              </a:rPr>
              <a:t>LIVE DEMO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324FF-9654-4A64-9A48-18D528FC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现场演示只走一条稳定链路，再展示 Graph POC 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9CC08-2E11-4548-A019-C34A7729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56176-1932-49A9-BCA7-D4E3B65F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Power Equipment RAG · academic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C3FDE-B6C8-4FA6-975A-8AFD8ECE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495FA-E37C-4835-B2BB-4C134F50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457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82187-9798-41B2-80BE-BBED9479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256B7-91E3-430D-B8F2-065D17C1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90700"/>
            <a:ext cx="394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打开成果总览：说明资料规模与入口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71F97-B509-474B-BCA3-D739A81F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57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A650A-AFCD-4CC5-8986-C083DFDA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C0D63-F911-4C3C-AAC0-2AC8FE9A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09850"/>
            <a:ext cx="394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展示 60 题评测集：说明不是随机提问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E1629-27DF-40E3-9870-0C691FF8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457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D57CB-EF37-49E5-B3A4-A56BF468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D2CFA-CB41-4046-BA08-EDC02DC9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29000"/>
            <a:ext cx="394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展示第三天 baseline 表：keyword / dense / hybrid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88D99-2CB3-4152-A210-ECC4B1F4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57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65F49-6370-40F6-A582-4B327705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CBBCC-C809-4AC5-8FA4-B44E4EB8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48150"/>
            <a:ext cx="394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展示一个成功案例和一个失败案例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7B319-4821-4612-B43C-426402A1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57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BD82F-866D-4D9D-8297-56A52E30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0658F-C5E2-46FB-8A4C-820B4B4F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394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打开 Graph POC：schema / 三元组 / evidence / 人工评审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F50F1-3E49-4E06-9BD4-DDEDDF42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BFD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18923-9FB1-4CDB-BC0D-B195D9CF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145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备用策略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08748-694D-4A8D-9958-4640F304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266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如果现场系统启动不稳定，直接展示已生成的 Markdown 报告、PPT 表格和 Graph POC SVG/HTML。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87B47-24D4-43B8-9E40-EB4787A1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4058DF-9357-4865-B040-15383F89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863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演示原则：少讲技术名词，多讲证据链和评测结论。</a:t>
            </a:r>
          </a:p>
        </p:txBody>
      </p:sp>
    </p:spTree>
    <p:extLst>
      <p:ext uri="{BB962C8B-B14F-4D97-AF65-F5344CB8AC3E}">
        <p14:creationId xmlns:p14="http://schemas.microsoft.com/office/powerpoint/2010/main" val="20407479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8D35F0-CD1F-4240-BD25-E34DCEE4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160F7-28BD-4EED-B7CF-4250103C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9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97A6"/>
                </a:solidFill>
                <a:latin typeface="Aptos"/>
                <a:ea typeface="Aptos"/>
                <a:cs typeface="Aptos"/>
              </a:rPr>
              <a:t>FINAL WEEK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E9536-B869-4D37-9948-706E7093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剩余时间聚焦可汇报质量，而不是临时扩功能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FA04D-9AA9-49D7-868B-2D0C680F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6D285-5C66-4DBE-B851-A117C030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Power Equipment RAG · academic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AC33A-10B0-4D7F-8DF7-D33DA89A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49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84ED9-C5FB-4F8E-A523-92619093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01D4E-F953-4259-B2E0-9DAB5923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27260-4B7D-4231-82C1-6F647E19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43100"/>
            <a:ext cx="2419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第六天：PPT 排练、截图、失败案例讲稿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906A1-E42E-4BA1-A766-B2D18403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32295-E31B-4ACE-9E27-32C10543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F7969-8619-4E5F-BCF7-8CE4D72A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43100"/>
            <a:ext cx="2419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第七天：现场演示检查、备用文件、时间控制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2DA86-4819-4176-9737-0F123C3E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31F4B-8985-464B-B34B-E90531E5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7A118-D286-465E-87DE-2CFAC4FC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2419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汇报后：替换真实 embedding、接入 reranker、补结构化事实路由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A7A7A-9F64-4175-8AEB-683FC046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最终可交付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92268-FF21-4BA3-A5F3-35EF0A70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 可编辑 PPTX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2. 60 题评测集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3. baseline 对比报告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4. 失败案例分析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5. Graph POC 证据链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BAF87-B6CE-4D15-84BC-760285CD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rPr>
              <a:t>核心收束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EDB5B-C595-428C-B8D9-602A7290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400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这个项目的价值不是“会调用大模型”，而是把动力装备资料处理、检索、图谱化和评测组织成了一个可以继续研究的工程实验系统。</a:t>
            </a:r>
          </a:p>
        </p:txBody>
      </p:sp>
    </p:spTree>
    <p:extLst>
      <p:ext uri="{BB962C8B-B14F-4D97-AF65-F5344CB8AC3E}">
        <p14:creationId xmlns:p14="http://schemas.microsoft.com/office/powerpoint/2010/main" val="670304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2026-06-05T13:35:38.0450000Z</dcterms:created>
  <dcterms:modified xsi:type="dcterms:W3CDTF">2026-06-05T13:35:38.0450000Z</dcterms:modified>
</coreProperties>
</file>